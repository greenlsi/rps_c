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notesMasterIdLst>
    <p:notesMasterId r:id="rId30"/>
  </p:notesMasterIdLst>
  <p:handoutMasterIdLst>
    <p:handoutMasterId r:id="rId31"/>
  </p:handoutMasterIdLst>
  <p:sldIdLst>
    <p:sldId id="261" r:id="rId2"/>
    <p:sldId id="262" r:id="rId3"/>
    <p:sldId id="263" r:id="rId4"/>
    <p:sldId id="312" r:id="rId5"/>
    <p:sldId id="265" r:id="rId6"/>
    <p:sldId id="267" r:id="rId7"/>
    <p:sldId id="269" r:id="rId8"/>
    <p:sldId id="314" r:id="rId9"/>
    <p:sldId id="273" r:id="rId10"/>
    <p:sldId id="275" r:id="rId11"/>
    <p:sldId id="294" r:id="rId12"/>
    <p:sldId id="295" r:id="rId13"/>
    <p:sldId id="296" r:id="rId14"/>
    <p:sldId id="297" r:id="rId15"/>
    <p:sldId id="298" r:id="rId16"/>
    <p:sldId id="299" r:id="rId17"/>
    <p:sldId id="300" r:id="rId18"/>
    <p:sldId id="301" r:id="rId19"/>
    <p:sldId id="302" r:id="rId20"/>
    <p:sldId id="303" r:id="rId21"/>
    <p:sldId id="304" r:id="rId22"/>
    <p:sldId id="305" r:id="rId23"/>
    <p:sldId id="306" r:id="rId24"/>
    <p:sldId id="307" r:id="rId25"/>
    <p:sldId id="308" r:id="rId26"/>
    <p:sldId id="309" r:id="rId27"/>
    <p:sldId id="310" r:id="rId28"/>
    <p:sldId id="311" r:id="rId29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32"/>
      <p:bold r:id="rId33"/>
      <p:italic r:id="rId34"/>
      <p:boldItalic r:id="rId35"/>
    </p:embeddedFont>
    <p:embeddedFont>
      <p:font typeface="EB Garamond" pitchFamily="2" charset="0"/>
      <p:regular r:id="rId36"/>
      <p:bold r:id="rId37"/>
      <p:italic r:id="rId38"/>
      <p:boldItalic r:id="rId39"/>
    </p:embeddedFont>
    <p:embeddedFont>
      <p:font typeface="EB Garamond ExtraBold" pitchFamily="2" charset="0"/>
      <p:bold r:id="rId40"/>
      <p:italic r:id="rId41"/>
      <p:boldItalic r:id="rId42"/>
    </p:embeddedFont>
    <p:embeddedFont>
      <p:font typeface="Libre Franklin" pitchFamily="2" charset="77"/>
      <p:regular r:id="rId43"/>
      <p:bold r:id="rId44"/>
      <p:italic r:id="rId45"/>
      <p:boldItalic r:id="rId46"/>
    </p:embeddedFont>
    <p:embeddedFont>
      <p:font typeface="Raleway" pitchFamily="2" charset="77"/>
      <p:regular r:id="rId47"/>
      <p:bold r:id="rId48"/>
      <p:italic r:id="rId49"/>
      <p:boldItalic r:id="rId5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086"/>
    <p:restoredTop sz="48904"/>
  </p:normalViewPr>
  <p:slideViewPr>
    <p:cSldViewPr snapToGrid="0">
      <p:cViewPr varScale="1">
        <p:scale>
          <a:sx n="78" d="100"/>
          <a:sy n="78" d="100"/>
        </p:scale>
        <p:origin x="1664" y="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6" d="100"/>
          <a:sy n="96" d="100"/>
        </p:scale>
        <p:origin x="3088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font" Target="fonts/font11.fntdata"/><Relationship Id="rId47" Type="http://schemas.openxmlformats.org/officeDocument/2006/relationships/font" Target="fonts/font16.fntdata"/><Relationship Id="rId50" Type="http://schemas.openxmlformats.org/officeDocument/2006/relationships/font" Target="fonts/font19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45" Type="http://schemas.openxmlformats.org/officeDocument/2006/relationships/font" Target="fonts/font14.fntdata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4" Type="http://schemas.openxmlformats.org/officeDocument/2006/relationships/font" Target="fonts/font13.fntdata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4.fntdata"/><Relationship Id="rId43" Type="http://schemas.openxmlformats.org/officeDocument/2006/relationships/font" Target="fonts/font12.fntdata"/><Relationship Id="rId48" Type="http://schemas.openxmlformats.org/officeDocument/2006/relationships/font" Target="fonts/font17.fntdata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46" Type="http://schemas.openxmlformats.org/officeDocument/2006/relationships/font" Target="fonts/font15.fntdata"/><Relationship Id="rId20" Type="http://schemas.openxmlformats.org/officeDocument/2006/relationships/slide" Target="slides/slide19.xml"/><Relationship Id="rId41" Type="http://schemas.openxmlformats.org/officeDocument/2006/relationships/font" Target="fonts/font10.fntdata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49" Type="http://schemas.openxmlformats.org/officeDocument/2006/relationships/font" Target="fonts/font18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9F03315A-12DD-9A95-902D-ACBBEE1AE91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EB3D7FE-DDCB-2A13-5C85-6FA96178B65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560879-115C-F14C-B0D8-69A5200920A6}" type="datetimeFigureOut">
              <a:rPr lang="es-ES" smtClean="0"/>
              <a:t>19/5/26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769B742-4AE7-81BF-0710-36CBE5CCAD6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F292C77-9C97-DD12-9275-D77F4580222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1F8B89-501E-DD49-9E3D-26014F9F57E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672042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ab544e0994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ab544e0994_0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ES" b="1" dirty="0"/>
              <a:t>Mensaje clave</a:t>
            </a:r>
          </a:p>
          <a:p>
            <a:r>
              <a:rPr lang="es-ES" dirty="0"/>
              <a:t>“No estamos haciendo un juego. Estamos usando un juego para demostrar una metodología completa de diseño de sistemas distribuidos tolerantes a fallos.”</a:t>
            </a:r>
          </a:p>
          <a:p>
            <a:r>
              <a:rPr lang="es-ES" b="1" dirty="0"/>
              <a:t>Qué contar</a:t>
            </a:r>
          </a:p>
          <a:p>
            <a:r>
              <a:rPr lang="es-ES" dirty="0"/>
              <a:t>El objetivo real del ejemplo es enseñar:</a:t>
            </a:r>
          </a:p>
          <a:p>
            <a:pPr lvl="1"/>
            <a:r>
              <a:rPr lang="es-ES" dirty="0"/>
              <a:t>especificación formal,</a:t>
            </a:r>
          </a:p>
          <a:p>
            <a:pPr lvl="1"/>
            <a:r>
              <a:rPr lang="es-ES" dirty="0"/>
              <a:t>modelado con FSM,</a:t>
            </a:r>
          </a:p>
          <a:p>
            <a:pPr lvl="1"/>
            <a:r>
              <a:rPr lang="es-ES" dirty="0"/>
              <a:t>verificación con SPIN/LTL,</a:t>
            </a:r>
          </a:p>
          <a:p>
            <a:pPr lvl="1"/>
            <a:r>
              <a:rPr lang="es-ES" dirty="0"/>
              <a:t>implementación determinista,</a:t>
            </a:r>
          </a:p>
          <a:p>
            <a:pPr lvl="1"/>
            <a:r>
              <a:rPr lang="es-ES" dirty="0"/>
              <a:t>y tolerancia a fallos con Raft.</a:t>
            </a:r>
          </a:p>
          <a:p>
            <a:r>
              <a:rPr lang="es-ES" dirty="0"/>
              <a:t>Todo el sistema está construido con la misma filosofía:</a:t>
            </a:r>
          </a:p>
          <a:p>
            <a:pPr lvl="1"/>
            <a:r>
              <a:rPr lang="es-ES" dirty="0"/>
              <a:t>estados explícitos,</a:t>
            </a:r>
          </a:p>
          <a:p>
            <a:pPr lvl="1"/>
            <a:r>
              <a:rPr lang="es-ES" dirty="0"/>
              <a:t>transiciones explícitas,</a:t>
            </a:r>
          </a:p>
          <a:p>
            <a:pPr lvl="1"/>
            <a:r>
              <a:rPr lang="es-ES" dirty="0"/>
              <a:t>comportamiento verificable.</a:t>
            </a:r>
          </a:p>
          <a:p>
            <a:r>
              <a:rPr lang="es-ES" dirty="0"/>
              <a:t>La ventaja pedagógica:</a:t>
            </a:r>
          </a:p>
          <a:p>
            <a:pPr lvl="1"/>
            <a:r>
              <a:rPr lang="es-ES" dirty="0"/>
              <a:t>el dominio del juego es simple,</a:t>
            </a:r>
          </a:p>
          <a:p>
            <a:pPr lvl="1"/>
            <a:r>
              <a:rPr lang="es-ES" dirty="0"/>
              <a:t>pero los problemas distribuidos son reales.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b="1" dirty="0"/>
              <a:t>Mensaje clave</a:t>
            </a:r>
          </a:p>
          <a:p>
            <a:r>
              <a:rPr lang="es-ES" dirty="0"/>
              <a:t>“El problema difícil de los sistemas distribuidos no es mover mensajes; es acordar un orden.”</a:t>
            </a:r>
          </a:p>
          <a:p>
            <a:r>
              <a:rPr lang="es-ES" b="1" dirty="0"/>
              <a:t>Qué contar</a:t>
            </a:r>
          </a:p>
          <a:p>
            <a:r>
              <a:rPr lang="es-ES" dirty="0"/>
              <a:t>Mucha gente cree que si los mensajes llegan, el sistema funciona.</a:t>
            </a:r>
          </a:p>
          <a:p>
            <a:r>
              <a:rPr lang="es-ES" dirty="0"/>
              <a:t>Pero dos nodos pueden recibir exactamente los mismos eventos en distinto orden.</a:t>
            </a:r>
          </a:p>
          <a:p>
            <a:r>
              <a:rPr lang="es-ES" dirty="0"/>
              <a:t>Si la FSM no es conmutativa:</a:t>
            </a:r>
          </a:p>
          <a:p>
            <a:pPr lvl="1"/>
            <a:r>
              <a:rPr lang="es-ES" dirty="0"/>
              <a:t>el estado diverge.</a:t>
            </a:r>
          </a:p>
          <a:p>
            <a:r>
              <a:rPr lang="es-ES" dirty="0"/>
              <a:t>Esto introduce una idea central:</a:t>
            </a:r>
          </a:p>
          <a:p>
            <a:pPr lvl="1"/>
            <a:r>
              <a:rPr lang="es-ES" dirty="0"/>
              <a:t>la consistencia depende del orden global.</a:t>
            </a:r>
          </a:p>
          <a:p>
            <a:r>
              <a:rPr lang="es-ES" dirty="0"/>
              <a:t>Aquí conectas directamente con:</a:t>
            </a:r>
          </a:p>
          <a:p>
            <a:pPr lvl="1"/>
            <a:r>
              <a:rPr lang="es-ES" dirty="0"/>
              <a:t>replicación,</a:t>
            </a:r>
          </a:p>
          <a:p>
            <a:pPr lvl="1"/>
            <a:r>
              <a:rPr lang="es-ES" dirty="0"/>
              <a:t>consenso,</a:t>
            </a:r>
          </a:p>
          <a:p>
            <a:pPr lvl="1"/>
            <a:r>
              <a:rPr lang="es-ES" dirty="0"/>
              <a:t>Raft.</a:t>
            </a:r>
          </a:p>
          <a:p>
            <a:r>
              <a:rPr lang="es-ES" b="1" dirty="0"/>
              <a:t>Punto importante</a:t>
            </a:r>
          </a:p>
          <a:p>
            <a:r>
              <a:rPr lang="es-ES" dirty="0"/>
              <a:t>“No basta con TCP, sockets o MQTT. Necesitamos orden total.”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629026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b="1" dirty="0"/>
              <a:t>Mensaje clave</a:t>
            </a:r>
          </a:p>
          <a:p>
            <a:r>
              <a:rPr lang="es-ES" dirty="0"/>
              <a:t>“No empezamos programando red. Empezamos especificando propiedades.”</a:t>
            </a:r>
          </a:p>
          <a:p>
            <a:r>
              <a:rPr lang="es-ES" b="1" dirty="0"/>
              <a:t>Qué contar</a:t>
            </a:r>
          </a:p>
          <a:p>
            <a:r>
              <a:rPr lang="es-ES" dirty="0"/>
              <a:t>Explicar el pipeline:</a:t>
            </a:r>
          </a:p>
          <a:p>
            <a:pPr lvl="1"/>
            <a:r>
              <a:rPr lang="es-ES" dirty="0"/>
              <a:t>propiedades → modelo → implementación → distribución.</a:t>
            </a:r>
          </a:p>
          <a:p>
            <a:r>
              <a:rPr lang="es-ES" dirty="0"/>
              <a:t>La idea fuerte:</a:t>
            </a:r>
          </a:p>
          <a:p>
            <a:pPr lvl="1"/>
            <a:r>
              <a:rPr lang="es-ES" dirty="0"/>
              <a:t>Raft no arregla una FSM mal diseñada.</a:t>
            </a:r>
          </a:p>
          <a:p>
            <a:r>
              <a:rPr lang="es-ES" dirty="0"/>
              <a:t>Primero:</a:t>
            </a:r>
          </a:p>
          <a:p>
            <a:pPr lvl="1"/>
            <a:r>
              <a:rPr lang="es-ES" dirty="0"/>
              <a:t>determinismo,</a:t>
            </a:r>
          </a:p>
          <a:p>
            <a:pPr lvl="1"/>
            <a:r>
              <a:rPr lang="es-ES" dirty="0"/>
              <a:t>seguridad,</a:t>
            </a:r>
          </a:p>
          <a:p>
            <a:pPr lvl="1"/>
            <a:r>
              <a:rPr lang="es-ES" dirty="0"/>
              <a:t>verificabilidad.</a:t>
            </a:r>
          </a:p>
          <a:p>
            <a:r>
              <a:rPr lang="es-ES" dirty="0"/>
              <a:t>Después:</a:t>
            </a:r>
          </a:p>
          <a:p>
            <a:pPr lvl="1"/>
            <a:r>
              <a:rPr lang="es-ES" dirty="0"/>
              <a:t>distribución y tolerancia a fallos.</a:t>
            </a:r>
          </a:p>
          <a:p>
            <a:r>
              <a:rPr lang="es-ES" b="1" dirty="0"/>
              <a:t>Idea pedagógica fuerte</a:t>
            </a:r>
          </a:p>
          <a:p>
            <a:r>
              <a:rPr lang="es-ES" dirty="0"/>
              <a:t>“Un sistema distribuido correcto empieza siendo correcto localmente.”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104873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b="1" dirty="0"/>
              <a:t>Mensaje clave</a:t>
            </a:r>
          </a:p>
          <a:p>
            <a:r>
              <a:rPr lang="es-ES" dirty="0"/>
              <a:t>“El estado no vive en memoria: vive conceptualmente en el log.”</a:t>
            </a:r>
          </a:p>
          <a:p>
            <a:r>
              <a:rPr lang="es-ES" b="1" dirty="0"/>
              <a:t>Qué contar</a:t>
            </a:r>
          </a:p>
          <a:p>
            <a:r>
              <a:rPr lang="es-ES" dirty="0"/>
              <a:t>Todos los nodos ejecutan el mismo código.</a:t>
            </a:r>
          </a:p>
          <a:p>
            <a:r>
              <a:rPr lang="es-ES" dirty="0"/>
              <a:t>El estado puede reconstruirse reaplicando eventos.</a:t>
            </a:r>
          </a:p>
          <a:p>
            <a:r>
              <a:rPr lang="es-ES" dirty="0"/>
              <a:t>Eso conecta directamente con:</a:t>
            </a:r>
          </a:p>
          <a:p>
            <a:pPr lvl="1"/>
            <a:r>
              <a:rPr lang="es-ES" dirty="0" err="1"/>
              <a:t>event</a:t>
            </a:r>
            <a:r>
              <a:rPr lang="es-ES" dirty="0"/>
              <a:t> </a:t>
            </a:r>
            <a:r>
              <a:rPr lang="es-ES" dirty="0" err="1"/>
              <a:t>sourcing</a:t>
            </a:r>
            <a:r>
              <a:rPr lang="es-ES" dirty="0"/>
              <a:t>,</a:t>
            </a:r>
          </a:p>
          <a:p>
            <a:pPr lvl="1"/>
            <a:r>
              <a:rPr lang="es-ES" dirty="0"/>
              <a:t>replay,</a:t>
            </a:r>
          </a:p>
          <a:p>
            <a:pPr lvl="1"/>
            <a:r>
              <a:rPr lang="es-ES" dirty="0" err="1"/>
              <a:t>snapshots</a:t>
            </a:r>
            <a:r>
              <a:rPr lang="es-ES" dirty="0"/>
              <a:t>,</a:t>
            </a:r>
          </a:p>
          <a:p>
            <a:pPr lvl="1"/>
            <a:r>
              <a:rPr lang="es-ES" dirty="0"/>
              <a:t>recuperación tras fallo.</a:t>
            </a:r>
          </a:p>
          <a:p>
            <a:r>
              <a:rPr lang="es-ES" b="1" dirty="0"/>
              <a:t>Punto importante</a:t>
            </a:r>
          </a:p>
          <a:p>
            <a:r>
              <a:rPr lang="es-ES" dirty="0"/>
              <a:t>El </a:t>
            </a:r>
            <a:r>
              <a:rPr lang="es-ES" dirty="0" err="1"/>
              <a:t>commit</a:t>
            </a:r>
            <a:r>
              <a:rPr lang="es-ES" dirty="0"/>
              <a:t>/</a:t>
            </a:r>
            <a:r>
              <a:rPr lang="es-ES" dirty="0" err="1"/>
              <a:t>reveal</a:t>
            </a:r>
            <a:r>
              <a:rPr lang="es-ES" dirty="0"/>
              <a:t> evita trampas.</a:t>
            </a:r>
          </a:p>
          <a:p>
            <a:r>
              <a:rPr lang="es-ES" dirty="0"/>
              <a:t>Introduce ya:</a:t>
            </a:r>
          </a:p>
          <a:p>
            <a:pPr lvl="1"/>
            <a:r>
              <a:rPr lang="es-ES" dirty="0"/>
              <a:t>causalidad,</a:t>
            </a:r>
          </a:p>
          <a:p>
            <a:pPr lvl="1"/>
            <a:r>
              <a:rPr lang="es-ES" dirty="0"/>
              <a:t>orden,</a:t>
            </a:r>
          </a:p>
          <a:p>
            <a:pPr lvl="1"/>
            <a:r>
              <a:rPr lang="es-ES" dirty="0"/>
              <a:t>validación determinista.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512094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b="1" dirty="0"/>
              <a:t>Mensaje clave</a:t>
            </a:r>
          </a:p>
          <a:p>
            <a:r>
              <a:rPr lang="es-ES" dirty="0"/>
              <a:t>“La verificación formal empieza antes del código.”</a:t>
            </a:r>
          </a:p>
          <a:p>
            <a:r>
              <a:rPr lang="es-ES" b="1" dirty="0"/>
              <a:t>Qué contar</a:t>
            </a:r>
          </a:p>
          <a:p>
            <a:r>
              <a:rPr lang="es-ES" dirty="0"/>
              <a:t>Diferenciar claramente:</a:t>
            </a:r>
          </a:p>
          <a:p>
            <a:pPr lvl="1"/>
            <a:r>
              <a:rPr lang="es-ES" dirty="0"/>
              <a:t>safety,</a:t>
            </a:r>
          </a:p>
          <a:p>
            <a:pPr lvl="1"/>
            <a:r>
              <a:rPr lang="es-ES" dirty="0" err="1"/>
              <a:t>liveness</a:t>
            </a:r>
            <a:r>
              <a:rPr lang="es-ES" dirty="0"/>
              <a:t>.</a:t>
            </a:r>
          </a:p>
          <a:p>
            <a:r>
              <a:rPr lang="es-ES" dirty="0"/>
              <a:t>Safety:</a:t>
            </a:r>
          </a:p>
          <a:p>
            <a:pPr lvl="1"/>
            <a:r>
              <a:rPr lang="es-ES" dirty="0"/>
              <a:t>“nunca pasa algo malo”.</a:t>
            </a:r>
          </a:p>
          <a:p>
            <a:r>
              <a:rPr lang="es-ES" dirty="0" err="1"/>
              <a:t>Liveness</a:t>
            </a:r>
            <a:r>
              <a:rPr lang="es-ES" dirty="0"/>
              <a:t>:</a:t>
            </a:r>
          </a:p>
          <a:p>
            <a:pPr lvl="1"/>
            <a:r>
              <a:rPr lang="es-ES" dirty="0"/>
              <a:t>“el sistema progresa”.</a:t>
            </a:r>
          </a:p>
          <a:p>
            <a:r>
              <a:rPr lang="es-ES" dirty="0"/>
              <a:t>Muchos sistemas reales funcionan bien en safety pero fallan en </a:t>
            </a:r>
            <a:r>
              <a:rPr lang="es-ES" dirty="0" err="1"/>
              <a:t>liveness</a:t>
            </a:r>
            <a:r>
              <a:rPr lang="es-ES" dirty="0"/>
              <a:t>:</a:t>
            </a:r>
          </a:p>
          <a:p>
            <a:pPr lvl="1"/>
            <a:r>
              <a:rPr lang="es-ES" dirty="0" err="1"/>
              <a:t>deadlocks</a:t>
            </a:r>
            <a:r>
              <a:rPr lang="es-ES" dirty="0"/>
              <a:t>,</a:t>
            </a:r>
          </a:p>
          <a:p>
            <a:pPr lvl="1"/>
            <a:r>
              <a:rPr lang="es-ES" dirty="0"/>
              <a:t>bloqueos,</a:t>
            </a:r>
          </a:p>
          <a:p>
            <a:pPr lvl="1"/>
            <a:r>
              <a:rPr lang="es-ES" dirty="0"/>
              <a:t>estados intermedios eternos.</a:t>
            </a:r>
          </a:p>
          <a:p>
            <a:r>
              <a:rPr lang="es-ES" b="1" dirty="0"/>
              <a:t>Idea importante</a:t>
            </a:r>
          </a:p>
          <a:p>
            <a:r>
              <a:rPr lang="es-ES" dirty="0"/>
              <a:t>“Raft no elimina la necesidad de verificar la lógica de aplicación.”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169836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b="1" dirty="0"/>
              <a:t>Mensaje clave</a:t>
            </a:r>
          </a:p>
          <a:p>
            <a:r>
              <a:rPr lang="es-ES" dirty="0"/>
              <a:t>“Cada propiedad existe porque alguien cometió ese bug en un sistema real.”</a:t>
            </a:r>
          </a:p>
          <a:p>
            <a:r>
              <a:rPr lang="es-ES" b="1" dirty="0"/>
              <a:t>Qué contar</a:t>
            </a:r>
          </a:p>
          <a:p>
            <a:r>
              <a:rPr lang="es-ES" dirty="0"/>
              <a:t>No presentar LTL como matemática abstracta.</a:t>
            </a:r>
          </a:p>
          <a:p>
            <a:r>
              <a:rPr lang="es-ES" dirty="0"/>
              <a:t>Presentarla como:</a:t>
            </a:r>
          </a:p>
          <a:p>
            <a:pPr lvl="1"/>
            <a:r>
              <a:rPr lang="es-ES" dirty="0"/>
              <a:t>detector automático de bugs conceptuales.</a:t>
            </a:r>
          </a:p>
          <a:p>
            <a:r>
              <a:rPr lang="es-ES" dirty="0"/>
              <a:t>Explicar cada propiedad como un fallo real:</a:t>
            </a:r>
          </a:p>
          <a:p>
            <a:pPr lvl="1"/>
            <a:r>
              <a:rPr lang="es-ES" dirty="0" err="1"/>
              <a:t>commits</a:t>
            </a:r>
            <a:r>
              <a:rPr lang="es-ES" dirty="0"/>
              <a:t> fantasma,</a:t>
            </a:r>
          </a:p>
          <a:p>
            <a:pPr lvl="1"/>
            <a:r>
              <a:rPr lang="es-ES" dirty="0"/>
              <a:t>desbordamientos,</a:t>
            </a:r>
          </a:p>
          <a:p>
            <a:pPr lvl="1"/>
            <a:r>
              <a:rPr lang="es-ES" dirty="0" err="1"/>
              <a:t>replays</a:t>
            </a:r>
            <a:r>
              <a:rPr lang="es-ES" dirty="0"/>
              <a:t>,</a:t>
            </a:r>
          </a:p>
          <a:p>
            <a:pPr lvl="1"/>
            <a:r>
              <a:rPr lang="es-ES" dirty="0"/>
              <a:t>inconsistencias.</a:t>
            </a:r>
          </a:p>
          <a:p>
            <a:r>
              <a:rPr lang="es-ES" b="1" dirty="0"/>
              <a:t>Idea fuerte</a:t>
            </a:r>
          </a:p>
          <a:p>
            <a:r>
              <a:rPr lang="es-ES" dirty="0"/>
              <a:t>“LTL convierte intuiciones en propiedades verificables.”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113266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b="1" dirty="0"/>
              <a:t>Mensaje clave</a:t>
            </a:r>
          </a:p>
          <a:p>
            <a:r>
              <a:rPr lang="es-ES" dirty="0"/>
              <a:t>“Un sistema seguro puede seguir siendo inútil.”</a:t>
            </a:r>
          </a:p>
          <a:p>
            <a:r>
              <a:rPr lang="es-ES" b="1" dirty="0"/>
              <a:t>Qué contar</a:t>
            </a:r>
          </a:p>
          <a:p>
            <a:r>
              <a:rPr lang="es-ES" dirty="0"/>
              <a:t>Safety sola no basta.</a:t>
            </a:r>
          </a:p>
          <a:p>
            <a:r>
              <a:rPr lang="es-ES" dirty="0"/>
              <a:t>Un sistema puede:</a:t>
            </a:r>
          </a:p>
          <a:p>
            <a:pPr lvl="1"/>
            <a:r>
              <a:rPr lang="es-ES" dirty="0"/>
              <a:t>no corromper datos,</a:t>
            </a:r>
          </a:p>
          <a:p>
            <a:pPr lvl="1"/>
            <a:r>
              <a:rPr lang="es-ES" dirty="0"/>
              <a:t>pero quedarse bloqueado para siempre.</a:t>
            </a:r>
          </a:p>
          <a:p>
            <a:r>
              <a:rPr lang="es-ES" dirty="0" err="1"/>
              <a:t>Liveness</a:t>
            </a:r>
            <a:r>
              <a:rPr lang="es-ES" dirty="0"/>
              <a:t> garantiza progreso.</a:t>
            </a:r>
          </a:p>
          <a:p>
            <a:r>
              <a:rPr lang="es-ES" dirty="0"/>
              <a:t>Importante mencionar:</a:t>
            </a:r>
          </a:p>
          <a:p>
            <a:pPr lvl="1"/>
            <a:r>
              <a:rPr lang="es-ES" dirty="0"/>
              <a:t>estados absorbentes,</a:t>
            </a:r>
          </a:p>
          <a:p>
            <a:pPr lvl="1"/>
            <a:r>
              <a:rPr lang="es-ES" dirty="0" err="1"/>
              <a:t>terminalidad</a:t>
            </a:r>
            <a:r>
              <a:rPr lang="es-ES" dirty="0"/>
              <a:t>,</a:t>
            </a:r>
          </a:p>
          <a:p>
            <a:pPr lvl="1"/>
            <a:r>
              <a:rPr lang="es-ES" dirty="0"/>
              <a:t>ausencia de limbo.</a:t>
            </a:r>
          </a:p>
          <a:p>
            <a:r>
              <a:rPr lang="es-ES" b="1" dirty="0"/>
              <a:t>Punto clave</a:t>
            </a:r>
          </a:p>
          <a:p>
            <a:r>
              <a:rPr lang="es-ES" dirty="0"/>
              <a:t>“La tolerancia a fallos no sirve si el sistema deja de avanzar.”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627858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b="1" dirty="0"/>
              <a:t>Mensaje clave</a:t>
            </a:r>
          </a:p>
          <a:p>
            <a:r>
              <a:rPr lang="es-ES" dirty="0"/>
              <a:t>“Estamos verificando el modelo antes de escribir miles de líneas de C.”</a:t>
            </a:r>
          </a:p>
          <a:p>
            <a:r>
              <a:rPr lang="es-ES" b="1" dirty="0"/>
              <a:t>Qué contar</a:t>
            </a:r>
          </a:p>
          <a:p>
            <a:r>
              <a:rPr lang="es-ES" dirty="0"/>
              <a:t>SPIN explora automáticamente combinaciones de estados.</a:t>
            </a:r>
          </a:p>
          <a:p>
            <a:r>
              <a:rPr lang="es-ES" dirty="0"/>
              <a:t>Detecta:</a:t>
            </a:r>
          </a:p>
          <a:p>
            <a:pPr lvl="1"/>
            <a:r>
              <a:rPr lang="es-ES" dirty="0"/>
              <a:t>carreras,</a:t>
            </a:r>
          </a:p>
          <a:p>
            <a:pPr lvl="1"/>
            <a:r>
              <a:rPr lang="es-ES" dirty="0"/>
              <a:t>inconsistencias,</a:t>
            </a:r>
          </a:p>
          <a:p>
            <a:pPr lvl="1"/>
            <a:r>
              <a:rPr lang="es-ES" dirty="0"/>
              <a:t>violaciones de propiedades.</a:t>
            </a:r>
          </a:p>
          <a:p>
            <a:r>
              <a:rPr lang="es-ES" dirty="0"/>
              <a:t>Muy importante:</a:t>
            </a:r>
          </a:p>
          <a:p>
            <a:pPr lvl="1"/>
            <a:r>
              <a:rPr lang="es-ES" dirty="0"/>
              <a:t>SPIN no prueba que el sistema sea perfecto.</a:t>
            </a:r>
          </a:p>
          <a:p>
            <a:pPr lvl="1"/>
            <a:r>
              <a:rPr lang="es-ES" dirty="0"/>
              <a:t>Pero sí encuentra contraejemplos reales.</a:t>
            </a:r>
          </a:p>
          <a:p>
            <a:r>
              <a:rPr lang="es-ES" b="1" dirty="0"/>
              <a:t>Idea pedagógica</a:t>
            </a:r>
          </a:p>
          <a:p>
            <a:r>
              <a:rPr lang="es-ES" dirty="0"/>
              <a:t>“SPIN es un depurador de modelos.”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739546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b="1" dirty="0"/>
              <a:t>Mensaje clave</a:t>
            </a:r>
          </a:p>
          <a:p>
            <a:r>
              <a:rPr lang="es-ES" dirty="0"/>
              <a:t>“El estado del sistema debe poder dibujarse.”</a:t>
            </a:r>
          </a:p>
          <a:p>
            <a:r>
              <a:rPr lang="es-ES" b="1" dirty="0"/>
              <a:t>Qué contar</a:t>
            </a:r>
          </a:p>
          <a:p>
            <a:r>
              <a:rPr lang="es-ES" dirty="0"/>
              <a:t>Si no puedes representar claramente estados y transiciones:</a:t>
            </a:r>
          </a:p>
          <a:p>
            <a:pPr lvl="1"/>
            <a:r>
              <a:rPr lang="es-ES" dirty="0"/>
              <a:t>probablemente el diseño es malo.</a:t>
            </a:r>
          </a:p>
          <a:p>
            <a:r>
              <a:rPr lang="es-ES" dirty="0"/>
              <a:t>FSM explícita:</a:t>
            </a:r>
          </a:p>
          <a:p>
            <a:pPr lvl="1"/>
            <a:r>
              <a:rPr lang="es-ES" dirty="0"/>
              <a:t>reduce ambigüedad,</a:t>
            </a:r>
          </a:p>
          <a:p>
            <a:pPr lvl="1"/>
            <a:r>
              <a:rPr lang="es-ES" dirty="0"/>
              <a:t>mejora verificabilidad,</a:t>
            </a:r>
          </a:p>
          <a:p>
            <a:pPr lvl="1"/>
            <a:r>
              <a:rPr lang="es-ES" dirty="0"/>
              <a:t>mejora depuración.</a:t>
            </a:r>
          </a:p>
          <a:p>
            <a:r>
              <a:rPr lang="es-ES" b="1" dirty="0"/>
              <a:t>Punto importante</a:t>
            </a:r>
          </a:p>
          <a:p>
            <a:r>
              <a:rPr lang="es-ES" dirty="0"/>
              <a:t>GAME_OVER absorbente.</a:t>
            </a:r>
          </a:p>
          <a:p>
            <a:r>
              <a:rPr lang="es-ES" dirty="0"/>
              <a:t>Estados claramente separados:</a:t>
            </a:r>
          </a:p>
          <a:p>
            <a:pPr lvl="1"/>
            <a:r>
              <a:rPr lang="es-ES" dirty="0"/>
              <a:t>espera,</a:t>
            </a:r>
          </a:p>
          <a:p>
            <a:pPr lvl="1"/>
            <a:r>
              <a:rPr lang="es-ES" dirty="0"/>
              <a:t>resolución,</a:t>
            </a:r>
          </a:p>
          <a:p>
            <a:pPr lvl="1"/>
            <a:r>
              <a:rPr lang="es-ES" dirty="0"/>
              <a:t>terminal.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07279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b="1" dirty="0"/>
              <a:t>Mensaje clave</a:t>
            </a:r>
          </a:p>
          <a:p>
            <a:r>
              <a:rPr lang="es-ES" dirty="0"/>
              <a:t>“Cada transición es una regla formal del sistema.”</a:t>
            </a:r>
          </a:p>
          <a:p>
            <a:r>
              <a:rPr lang="es-ES" b="1" dirty="0"/>
              <a:t>Qué contar</a:t>
            </a:r>
          </a:p>
          <a:p>
            <a:r>
              <a:rPr lang="es-ES" dirty="0"/>
              <a:t>La tabla es prácticamente una especificación ejecutable.</a:t>
            </a:r>
          </a:p>
          <a:p>
            <a:r>
              <a:rPr lang="es-ES" dirty="0"/>
              <a:t>Guardas:</a:t>
            </a:r>
          </a:p>
          <a:p>
            <a:pPr lvl="1"/>
            <a:r>
              <a:rPr lang="es-ES" dirty="0"/>
              <a:t>definen cuándo una transición es válida.</a:t>
            </a:r>
          </a:p>
          <a:p>
            <a:r>
              <a:rPr lang="es-ES" dirty="0"/>
              <a:t>Acciones:</a:t>
            </a:r>
          </a:p>
          <a:p>
            <a:pPr lvl="1"/>
            <a:r>
              <a:rPr lang="es-ES" dirty="0"/>
              <a:t>definen efectos.</a:t>
            </a:r>
          </a:p>
          <a:p>
            <a:r>
              <a:rPr lang="es-ES" dirty="0"/>
              <a:t>Separación muy limpia entre:</a:t>
            </a:r>
          </a:p>
          <a:p>
            <a:pPr lvl="1"/>
            <a:r>
              <a:rPr lang="es-ES" dirty="0"/>
              <a:t>validación,</a:t>
            </a:r>
          </a:p>
          <a:p>
            <a:pPr lvl="1"/>
            <a:r>
              <a:rPr lang="es-ES" dirty="0"/>
              <a:t>mutación.</a:t>
            </a:r>
          </a:p>
          <a:p>
            <a:r>
              <a:rPr lang="es-ES" b="1" dirty="0"/>
              <a:t>Idea fuerte</a:t>
            </a:r>
          </a:p>
          <a:p>
            <a:r>
              <a:rPr lang="es-ES" dirty="0"/>
              <a:t>“Una transición por línea evita lógica escondida.”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391300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b="1" dirty="0"/>
              <a:t>Mensaje clave</a:t>
            </a:r>
          </a:p>
          <a:p>
            <a:r>
              <a:rPr lang="es-ES" dirty="0"/>
              <a:t>“La idempotencia no es opcional en sistemas distribuidos.”</a:t>
            </a:r>
          </a:p>
          <a:p>
            <a:r>
              <a:rPr lang="es-ES" b="1" dirty="0"/>
              <a:t>Qué contar</a:t>
            </a:r>
          </a:p>
          <a:p>
            <a:r>
              <a:rPr lang="es-ES" dirty="0"/>
              <a:t>En sistemas reales:</a:t>
            </a:r>
          </a:p>
          <a:p>
            <a:pPr lvl="1"/>
            <a:r>
              <a:rPr lang="es-ES" dirty="0"/>
              <a:t>TODO se repite.</a:t>
            </a:r>
          </a:p>
          <a:p>
            <a:r>
              <a:rPr lang="es-ES" dirty="0"/>
              <a:t>Retransmisiones,</a:t>
            </a:r>
          </a:p>
          <a:p>
            <a:r>
              <a:rPr lang="es-ES" dirty="0"/>
              <a:t>reintentos,</a:t>
            </a:r>
          </a:p>
          <a:p>
            <a:r>
              <a:rPr lang="es-ES" dirty="0" err="1"/>
              <a:t>recovery</a:t>
            </a:r>
            <a:r>
              <a:rPr lang="es-ES" dirty="0"/>
              <a:t>,</a:t>
            </a:r>
          </a:p>
          <a:p>
            <a:r>
              <a:rPr lang="es-ES" dirty="0"/>
              <a:t>replay,</a:t>
            </a:r>
          </a:p>
          <a:p>
            <a:r>
              <a:rPr lang="es-ES" dirty="0" err="1"/>
              <a:t>snapshots</a:t>
            </a:r>
            <a:r>
              <a:rPr lang="es-ES" dirty="0"/>
              <a:t>.</a:t>
            </a:r>
          </a:p>
          <a:p>
            <a:r>
              <a:rPr lang="es-ES" dirty="0"/>
              <a:t>Diferencia crítica:</a:t>
            </a:r>
          </a:p>
          <a:p>
            <a:pPr lvl="1"/>
            <a:r>
              <a:rPr lang="es-ES" dirty="0"/>
              <a:t>duplicado exacto ≠ conflicto.</a:t>
            </a:r>
          </a:p>
          <a:p>
            <a:r>
              <a:rPr lang="es-ES" b="1" dirty="0"/>
              <a:t>Punto importante</a:t>
            </a:r>
          </a:p>
          <a:p>
            <a:r>
              <a:rPr lang="es-ES" dirty="0"/>
              <a:t>“Muchísimos bugs distribuidos vienen de no separar estos dos casos.”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304201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b="1" dirty="0"/>
              <a:t>Mensaje clave</a:t>
            </a:r>
          </a:p>
          <a:p>
            <a:r>
              <a:rPr lang="es-ES" dirty="0"/>
              <a:t>“El protocolo evita que un jugador adapte su jugada tras observar la del otro.”</a:t>
            </a:r>
          </a:p>
          <a:p>
            <a:r>
              <a:rPr lang="es-ES" b="1" dirty="0"/>
              <a:t>Qué contar</a:t>
            </a:r>
          </a:p>
          <a:p>
            <a:r>
              <a:rPr lang="es-ES" dirty="0"/>
              <a:t>Explicar compromiso criptográfico simple.</a:t>
            </a:r>
          </a:p>
          <a:p>
            <a:r>
              <a:rPr lang="es-ES" dirty="0"/>
              <a:t>Importante:</a:t>
            </a:r>
          </a:p>
          <a:p>
            <a:pPr lvl="1"/>
            <a:r>
              <a:rPr lang="es-ES" dirty="0"/>
              <a:t>validación determinista.</a:t>
            </a:r>
          </a:p>
          <a:p>
            <a:r>
              <a:rPr lang="es-ES" dirty="0"/>
              <a:t>Todos los nodos llegan exactamente al mismo resultado.</a:t>
            </a:r>
          </a:p>
          <a:p>
            <a:r>
              <a:rPr lang="es-ES" b="1" dirty="0"/>
              <a:t>Idea fuerte</a:t>
            </a:r>
          </a:p>
          <a:p>
            <a:r>
              <a:rPr lang="es-ES" dirty="0"/>
              <a:t>“La criptografía aquí no da confidencialidad; da integridad del protocolo.”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223070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b="1" dirty="0"/>
              <a:t>Mensaje clave</a:t>
            </a:r>
          </a:p>
          <a:p>
            <a:r>
              <a:rPr lang="es-ES" dirty="0"/>
              <a:t>“La FSM debe ser independiente de la infraestructura.”</a:t>
            </a:r>
          </a:p>
          <a:p>
            <a:r>
              <a:rPr lang="es-ES" b="1" dirty="0"/>
              <a:t>Qué contar</a:t>
            </a:r>
          </a:p>
          <a:p>
            <a:r>
              <a:rPr lang="es-ES" dirty="0"/>
              <a:t>Nada de sockets.</a:t>
            </a:r>
          </a:p>
          <a:p>
            <a:r>
              <a:rPr lang="es-ES" dirty="0"/>
              <a:t>Nada de Raft.</a:t>
            </a:r>
          </a:p>
          <a:p>
            <a:r>
              <a:rPr lang="es-ES" dirty="0"/>
              <a:t>Nada de TCP.</a:t>
            </a:r>
          </a:p>
          <a:p>
            <a:r>
              <a:rPr lang="es-ES" dirty="0"/>
              <a:t>Solo lógica pura.</a:t>
            </a:r>
          </a:p>
          <a:p>
            <a:r>
              <a:rPr lang="es-ES" b="1" dirty="0"/>
              <a:t>Idea importante</a:t>
            </a:r>
          </a:p>
          <a:p>
            <a:r>
              <a:rPr lang="es-ES" dirty="0"/>
              <a:t>Esto permite:</a:t>
            </a:r>
          </a:p>
          <a:p>
            <a:r>
              <a:rPr lang="es-ES" dirty="0" err="1"/>
              <a:t>tests</a:t>
            </a:r>
            <a:r>
              <a:rPr lang="es-ES" dirty="0"/>
              <a:t> rápidos,</a:t>
            </a:r>
          </a:p>
          <a:p>
            <a:r>
              <a:rPr lang="es-ES" dirty="0"/>
              <a:t>replay,</a:t>
            </a:r>
          </a:p>
          <a:p>
            <a:r>
              <a:rPr lang="es-ES" dirty="0"/>
              <a:t>simulación,</a:t>
            </a:r>
          </a:p>
          <a:p>
            <a:r>
              <a:rPr lang="es-ES" dirty="0"/>
              <a:t>portabilidad,</a:t>
            </a:r>
          </a:p>
          <a:p>
            <a:r>
              <a:rPr lang="es-ES" dirty="0"/>
              <a:t>verificación.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866478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b="1" dirty="0"/>
              <a:t>Mensaje clave</a:t>
            </a:r>
          </a:p>
          <a:p>
            <a:r>
              <a:rPr lang="es-ES" dirty="0"/>
              <a:t>“Cada rama del código corresponde a una transición formal.”</a:t>
            </a:r>
          </a:p>
          <a:p>
            <a:r>
              <a:rPr lang="es-ES" b="1" dirty="0"/>
              <a:t>Qué contar</a:t>
            </a:r>
          </a:p>
          <a:p>
            <a:r>
              <a:rPr lang="es-ES" dirty="0"/>
              <a:t>El código no es “libre”.</a:t>
            </a:r>
          </a:p>
          <a:p>
            <a:r>
              <a:rPr lang="es-ES" dirty="0"/>
              <a:t>Está guiado por el modelo.</a:t>
            </a:r>
          </a:p>
          <a:p>
            <a:r>
              <a:rPr lang="es-ES" dirty="0"/>
              <a:t>Relación directa:</a:t>
            </a:r>
          </a:p>
          <a:p>
            <a:pPr lvl="1"/>
            <a:r>
              <a:rPr lang="es-ES" dirty="0"/>
              <a:t>propiedad → transición → código.</a:t>
            </a:r>
          </a:p>
          <a:p>
            <a:r>
              <a:rPr lang="es-ES" b="1" dirty="0"/>
              <a:t>Idea fuerte</a:t>
            </a:r>
          </a:p>
          <a:p>
            <a:r>
              <a:rPr lang="es-ES" dirty="0"/>
              <a:t>“La especificación no se pierde al bajar a C.”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239843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b="1" dirty="0"/>
              <a:t>Mensaje clave</a:t>
            </a:r>
          </a:p>
          <a:p>
            <a:r>
              <a:rPr lang="es-ES" dirty="0"/>
              <a:t>“La verificación formal no sustituye los </a:t>
            </a:r>
            <a:r>
              <a:rPr lang="es-ES" dirty="0" err="1"/>
              <a:t>tests</a:t>
            </a:r>
            <a:r>
              <a:rPr lang="es-ES" dirty="0"/>
              <a:t>.”</a:t>
            </a:r>
          </a:p>
          <a:p>
            <a:r>
              <a:rPr lang="es-ES" b="1" dirty="0"/>
              <a:t>Qué contar</a:t>
            </a:r>
          </a:p>
          <a:p>
            <a:r>
              <a:rPr lang="es-ES" dirty="0"/>
              <a:t>SPIN cubre propiedades globales.</a:t>
            </a:r>
          </a:p>
          <a:p>
            <a:r>
              <a:rPr lang="es-ES" dirty="0" err="1"/>
              <a:t>Tests</a:t>
            </a:r>
            <a:r>
              <a:rPr lang="es-ES" dirty="0"/>
              <a:t> unitarios:</a:t>
            </a:r>
          </a:p>
          <a:p>
            <a:pPr lvl="1"/>
            <a:r>
              <a:rPr lang="es-ES" dirty="0"/>
              <a:t>validan implementación.</a:t>
            </a:r>
          </a:p>
          <a:p>
            <a:r>
              <a:rPr lang="es-ES" dirty="0" err="1"/>
              <a:t>Tests</a:t>
            </a:r>
            <a:r>
              <a:rPr lang="es-ES" dirty="0"/>
              <a:t> de escenario:</a:t>
            </a:r>
          </a:p>
          <a:p>
            <a:pPr lvl="1"/>
            <a:r>
              <a:rPr lang="es-ES" dirty="0"/>
              <a:t>validan comportamiento completo.</a:t>
            </a:r>
          </a:p>
          <a:p>
            <a:r>
              <a:rPr lang="es-ES" b="1" dirty="0"/>
              <a:t>Punto importante</a:t>
            </a:r>
          </a:p>
          <a:p>
            <a:r>
              <a:rPr lang="es-ES" dirty="0"/>
              <a:t>“Necesitamos las tres capas.”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955967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b="1" dirty="0"/>
              <a:t>Mensaje clave</a:t>
            </a:r>
          </a:p>
          <a:p>
            <a:r>
              <a:rPr lang="es-ES" dirty="0"/>
              <a:t>“Raft no replica memoria; replica orden.”</a:t>
            </a:r>
          </a:p>
          <a:p>
            <a:r>
              <a:rPr lang="es-ES" b="1" dirty="0"/>
              <a:t>Qué contar</a:t>
            </a:r>
          </a:p>
          <a:p>
            <a:r>
              <a:rPr lang="es-ES" dirty="0"/>
              <a:t>El valor real del consenso:</a:t>
            </a:r>
          </a:p>
          <a:p>
            <a:pPr lvl="1"/>
            <a:r>
              <a:rPr lang="es-ES" dirty="0"/>
              <a:t>orden total comprometido.</a:t>
            </a:r>
          </a:p>
          <a:p>
            <a:r>
              <a:rPr lang="es-ES" dirty="0"/>
              <a:t>Importante explicar </a:t>
            </a:r>
            <a:r>
              <a:rPr lang="es-ES" dirty="0" err="1"/>
              <a:t>commit</a:t>
            </a:r>
            <a:r>
              <a:rPr lang="es-ES" dirty="0"/>
              <a:t> </a:t>
            </a:r>
            <a:r>
              <a:rPr lang="es-ES" dirty="0" err="1"/>
              <a:t>index</a:t>
            </a:r>
            <a:r>
              <a:rPr lang="es-ES" dirty="0"/>
              <a:t>.</a:t>
            </a:r>
          </a:p>
          <a:p>
            <a:r>
              <a:rPr lang="es-ES" dirty="0"/>
              <a:t>Diferenciar:</a:t>
            </a:r>
          </a:p>
          <a:p>
            <a:pPr lvl="1"/>
            <a:r>
              <a:rPr lang="es-ES" dirty="0"/>
              <a:t>entradas existentes,</a:t>
            </a:r>
          </a:p>
          <a:p>
            <a:pPr lvl="1"/>
            <a:r>
              <a:rPr lang="es-ES" dirty="0"/>
              <a:t>entradas comprometidas.</a:t>
            </a:r>
          </a:p>
          <a:p>
            <a:r>
              <a:rPr lang="es-ES" b="1" dirty="0"/>
              <a:t>Idea fuerte</a:t>
            </a:r>
          </a:p>
          <a:p>
            <a:r>
              <a:rPr lang="es-ES" dirty="0"/>
              <a:t>“Una entrada no existe para la aplicación hasta estar comprometida.”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141943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b="1" dirty="0"/>
              <a:t>Mensaje clave</a:t>
            </a:r>
          </a:p>
          <a:p>
            <a:r>
              <a:rPr lang="es-ES" dirty="0"/>
              <a:t>“Aplicar antes del </a:t>
            </a:r>
            <a:r>
              <a:rPr lang="es-ES" dirty="0" err="1"/>
              <a:t>commit</a:t>
            </a:r>
            <a:r>
              <a:rPr lang="es-ES" dirty="0"/>
              <a:t> rompe consistencia.”</a:t>
            </a:r>
          </a:p>
          <a:p>
            <a:r>
              <a:rPr lang="es-ES" b="1" dirty="0"/>
              <a:t>Qué contar</a:t>
            </a:r>
          </a:p>
          <a:p>
            <a:r>
              <a:rPr lang="es-ES" dirty="0"/>
              <a:t>Este es EL error clásico.</a:t>
            </a:r>
          </a:p>
          <a:p>
            <a:r>
              <a:rPr lang="es-ES" dirty="0"/>
              <a:t>Si un líder cae:</a:t>
            </a:r>
          </a:p>
          <a:p>
            <a:pPr lvl="1"/>
            <a:r>
              <a:rPr lang="es-ES" dirty="0"/>
              <a:t>entradas no comprometidas desaparecen.</a:t>
            </a:r>
          </a:p>
          <a:p>
            <a:r>
              <a:rPr lang="es-ES" dirty="0"/>
              <a:t>Si ya mutaste estado:</a:t>
            </a:r>
          </a:p>
          <a:p>
            <a:pPr lvl="1"/>
            <a:r>
              <a:rPr lang="es-ES" dirty="0"/>
              <a:t>divergencia.</a:t>
            </a:r>
          </a:p>
          <a:p>
            <a:r>
              <a:rPr lang="es-ES" b="1" dirty="0"/>
              <a:t>Muy importante</a:t>
            </a:r>
          </a:p>
          <a:p>
            <a:r>
              <a:rPr lang="es-ES" dirty="0"/>
              <a:t>Repetir varias veces:</a:t>
            </a:r>
            <a:br>
              <a:rPr lang="es-ES" dirty="0"/>
            </a:br>
            <a:r>
              <a:rPr lang="es-ES" dirty="0"/>
              <a:t>“</a:t>
            </a:r>
            <a:r>
              <a:rPr lang="es-ES" dirty="0" err="1"/>
              <a:t>Apply</a:t>
            </a:r>
            <a:r>
              <a:rPr lang="es-ES" dirty="0"/>
              <a:t> ONLY after </a:t>
            </a:r>
            <a:r>
              <a:rPr lang="es-ES" dirty="0" err="1"/>
              <a:t>commit</a:t>
            </a:r>
            <a:r>
              <a:rPr lang="es-ES" dirty="0"/>
              <a:t>.”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895125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b="1" dirty="0"/>
              <a:t>Mensaje clave</a:t>
            </a:r>
          </a:p>
          <a:p>
            <a:r>
              <a:rPr lang="es-ES" dirty="0"/>
              <a:t>“No todo debe ir al log.”</a:t>
            </a:r>
          </a:p>
          <a:p>
            <a:r>
              <a:rPr lang="es-ES" b="1" dirty="0"/>
              <a:t>Qué contar</a:t>
            </a:r>
          </a:p>
          <a:p>
            <a:r>
              <a:rPr lang="es-ES" dirty="0"/>
              <a:t>Solo eventos semánticos.</a:t>
            </a:r>
          </a:p>
          <a:p>
            <a:r>
              <a:rPr lang="es-ES" dirty="0"/>
              <a:t>No </a:t>
            </a:r>
            <a:r>
              <a:rPr lang="es-ES" dirty="0" err="1"/>
              <a:t>ticks</a:t>
            </a:r>
            <a:r>
              <a:rPr lang="es-ES" dirty="0"/>
              <a:t>.</a:t>
            </a:r>
          </a:p>
          <a:p>
            <a:r>
              <a:rPr lang="es-ES" dirty="0"/>
              <a:t>No relojes.</a:t>
            </a:r>
          </a:p>
          <a:p>
            <a:r>
              <a:rPr lang="es-ES" dirty="0"/>
              <a:t>No ruido temporal.</a:t>
            </a:r>
          </a:p>
          <a:p>
            <a:r>
              <a:rPr lang="es-ES" b="1" dirty="0"/>
              <a:t>Idea fuerte</a:t>
            </a:r>
          </a:p>
          <a:p>
            <a:r>
              <a:rPr lang="es-ES" dirty="0"/>
              <a:t>“Replicar tiempo suele ser un error.”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580697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b="1" dirty="0"/>
              <a:t>Mensaje clave</a:t>
            </a:r>
          </a:p>
          <a:p>
            <a:r>
              <a:rPr lang="es-ES" dirty="0"/>
              <a:t>“El log debe ser simple y </a:t>
            </a:r>
            <a:r>
              <a:rPr lang="es-ES" dirty="0" err="1"/>
              <a:t>deterministicamente</a:t>
            </a:r>
            <a:r>
              <a:rPr lang="es-ES" dirty="0"/>
              <a:t> </a:t>
            </a:r>
            <a:r>
              <a:rPr lang="es-ES" dirty="0" err="1"/>
              <a:t>serializable</a:t>
            </a:r>
            <a:r>
              <a:rPr lang="es-ES" dirty="0"/>
              <a:t>.”</a:t>
            </a:r>
          </a:p>
          <a:p>
            <a:r>
              <a:rPr lang="es-ES" b="1" dirty="0"/>
              <a:t>Qué contar</a:t>
            </a:r>
          </a:p>
          <a:p>
            <a:r>
              <a:rPr lang="es-ES" dirty="0"/>
              <a:t>Tamaños fijos:</a:t>
            </a:r>
          </a:p>
          <a:p>
            <a:pPr lvl="1"/>
            <a:r>
              <a:rPr lang="es-ES" dirty="0"/>
              <a:t>simplicidad,</a:t>
            </a:r>
          </a:p>
          <a:p>
            <a:pPr lvl="1"/>
            <a:r>
              <a:rPr lang="es-ES" dirty="0"/>
              <a:t>embebidos,</a:t>
            </a:r>
          </a:p>
          <a:p>
            <a:pPr lvl="1"/>
            <a:r>
              <a:rPr lang="es-ES" dirty="0"/>
              <a:t>menos errores.</a:t>
            </a:r>
          </a:p>
          <a:p>
            <a:r>
              <a:rPr lang="es-ES" dirty="0"/>
              <a:t>Key:</a:t>
            </a:r>
          </a:p>
          <a:p>
            <a:pPr lvl="1"/>
            <a:r>
              <a:rPr lang="es-ES" dirty="0"/>
              <a:t>base de la idempotencia.</a:t>
            </a:r>
          </a:p>
          <a:p>
            <a:r>
              <a:rPr lang="es-ES" b="1" dirty="0"/>
              <a:t>Punto importante</a:t>
            </a:r>
          </a:p>
          <a:p>
            <a:r>
              <a:rPr lang="es-ES" dirty="0"/>
              <a:t>“El log es el sistema.”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4311704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b="1" dirty="0"/>
              <a:t>Mensaje clave</a:t>
            </a:r>
          </a:p>
          <a:p>
            <a:r>
              <a:rPr lang="es-ES" dirty="0"/>
              <a:t>“Raft y la aplicación están desacoplados mediante </a:t>
            </a:r>
            <a:r>
              <a:rPr lang="es-ES" dirty="0" err="1"/>
              <a:t>callbacks</a:t>
            </a:r>
            <a:r>
              <a:rPr lang="es-ES" dirty="0"/>
              <a:t>.”</a:t>
            </a:r>
          </a:p>
          <a:p>
            <a:r>
              <a:rPr lang="es-ES" b="1" dirty="0"/>
              <a:t>Qué contar</a:t>
            </a:r>
          </a:p>
          <a:p>
            <a:r>
              <a:rPr lang="es-ES" dirty="0"/>
              <a:t>Muy importante arquitectónicamente.</a:t>
            </a:r>
          </a:p>
          <a:p>
            <a:r>
              <a:rPr lang="es-ES" dirty="0"/>
              <a:t>Raft no conoce el juego.</a:t>
            </a:r>
          </a:p>
          <a:p>
            <a:r>
              <a:rPr lang="es-ES" dirty="0"/>
              <a:t>El juego no conoce Raft internamente.</a:t>
            </a:r>
          </a:p>
          <a:p>
            <a:r>
              <a:rPr lang="es-ES" b="1" dirty="0"/>
              <a:t>Idea fuerte</a:t>
            </a:r>
          </a:p>
          <a:p>
            <a:r>
              <a:rPr lang="es-ES" dirty="0"/>
              <a:t>“Esto convierte Raft en middleware reutilizable.”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3312050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b="1" dirty="0"/>
              <a:t>Mensaje clave</a:t>
            </a:r>
          </a:p>
          <a:p>
            <a:r>
              <a:rPr lang="es-ES" dirty="0"/>
              <a:t>“El adaptador traduce consenso a lógica de aplicación.”</a:t>
            </a:r>
          </a:p>
          <a:p>
            <a:r>
              <a:rPr lang="es-ES" b="1" dirty="0"/>
              <a:t>Qué contar</a:t>
            </a:r>
          </a:p>
          <a:p>
            <a:r>
              <a:rPr lang="es-ES" dirty="0" err="1"/>
              <a:t>Deserializa</a:t>
            </a:r>
            <a:r>
              <a:rPr lang="es-ES" dirty="0"/>
              <a:t>.</a:t>
            </a:r>
          </a:p>
          <a:p>
            <a:r>
              <a:rPr lang="es-ES" dirty="0"/>
              <a:t>Invoca FSM.</a:t>
            </a:r>
          </a:p>
          <a:p>
            <a:r>
              <a:rPr lang="es-ES" dirty="0"/>
              <a:t>Drena transiciones automáticas.</a:t>
            </a:r>
          </a:p>
          <a:p>
            <a:r>
              <a:rPr lang="es-ES" b="1" dirty="0"/>
              <a:t>Punto importante</a:t>
            </a:r>
          </a:p>
          <a:p>
            <a:r>
              <a:rPr lang="es-ES" dirty="0"/>
              <a:t>“El adaptador no decide reglas.”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7298985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b="1" dirty="0"/>
              <a:t>Mensaje clave</a:t>
            </a:r>
          </a:p>
          <a:p>
            <a:r>
              <a:rPr lang="es-ES" dirty="0"/>
              <a:t>“El progreso no depende del reloj.”</a:t>
            </a:r>
          </a:p>
          <a:p>
            <a:r>
              <a:rPr lang="es-ES" b="1" dirty="0"/>
              <a:t>Qué contar</a:t>
            </a:r>
          </a:p>
          <a:p>
            <a:r>
              <a:rPr lang="es-ES" dirty="0"/>
              <a:t>No replicamos </a:t>
            </a:r>
            <a:r>
              <a:rPr lang="es-ES" dirty="0" err="1"/>
              <a:t>ticks</a:t>
            </a:r>
            <a:r>
              <a:rPr lang="es-ES" dirty="0"/>
              <a:t>.</a:t>
            </a:r>
          </a:p>
          <a:p>
            <a:r>
              <a:rPr lang="es-ES" dirty="0"/>
              <a:t>El progreso emerge del estado.</a:t>
            </a:r>
          </a:p>
          <a:p>
            <a:r>
              <a:rPr lang="es-ES" dirty="0"/>
              <a:t>Tras cada </a:t>
            </a:r>
            <a:r>
              <a:rPr lang="es-ES" dirty="0" err="1"/>
              <a:t>apply</a:t>
            </a:r>
            <a:r>
              <a:rPr lang="es-ES" dirty="0"/>
              <a:t>:</a:t>
            </a:r>
          </a:p>
          <a:p>
            <a:pPr lvl="1"/>
            <a:r>
              <a:rPr lang="es-ES" dirty="0"/>
              <a:t>se drenan transiciones deterministas.</a:t>
            </a:r>
          </a:p>
          <a:p>
            <a:r>
              <a:rPr lang="es-ES" b="1" dirty="0"/>
              <a:t>Idea fuerte</a:t>
            </a:r>
          </a:p>
          <a:p>
            <a:r>
              <a:rPr lang="es-ES" dirty="0"/>
              <a:t>“Menos dependencia temporal = más reproducibilidad.”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7651724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b="1" dirty="0"/>
              <a:t>Mensaje clave</a:t>
            </a:r>
          </a:p>
          <a:p>
            <a:r>
              <a:rPr lang="es-ES" dirty="0"/>
              <a:t>“El </a:t>
            </a:r>
            <a:r>
              <a:rPr lang="es-ES" dirty="0" err="1"/>
              <a:t>recovery</a:t>
            </a:r>
            <a:r>
              <a:rPr lang="es-ES" dirty="0"/>
              <a:t> forma parte del diseño, no del mantenimiento.”</a:t>
            </a:r>
          </a:p>
          <a:p>
            <a:r>
              <a:rPr lang="es-ES" b="1" dirty="0"/>
              <a:t>Qué contar</a:t>
            </a:r>
          </a:p>
          <a:p>
            <a:r>
              <a:rPr lang="es-ES" dirty="0"/>
              <a:t>Sin </a:t>
            </a:r>
            <a:r>
              <a:rPr lang="es-ES" dirty="0" err="1"/>
              <a:t>snapshot</a:t>
            </a:r>
            <a:r>
              <a:rPr lang="es-ES" dirty="0"/>
              <a:t>:</a:t>
            </a:r>
          </a:p>
          <a:p>
            <a:pPr lvl="1"/>
            <a:r>
              <a:rPr lang="es-ES" dirty="0"/>
              <a:t>log infinito.</a:t>
            </a:r>
          </a:p>
          <a:p>
            <a:r>
              <a:rPr lang="es-ES" dirty="0" err="1"/>
              <a:t>Snapshot</a:t>
            </a:r>
            <a:r>
              <a:rPr lang="es-ES" dirty="0"/>
              <a:t> + replay:</a:t>
            </a:r>
          </a:p>
          <a:p>
            <a:pPr lvl="1"/>
            <a:r>
              <a:rPr lang="es-ES" dirty="0"/>
              <a:t>reconstrucción exacta.</a:t>
            </a:r>
          </a:p>
          <a:p>
            <a:r>
              <a:rPr lang="es-ES" b="1" dirty="0"/>
              <a:t>Punto importante</a:t>
            </a:r>
          </a:p>
          <a:p>
            <a:r>
              <a:rPr lang="es-ES" dirty="0"/>
              <a:t>“La idempotencia es lo que hace seguro el replay.”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8378256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b="1" dirty="0"/>
              <a:t>Mensaje clave</a:t>
            </a:r>
          </a:p>
          <a:p>
            <a:r>
              <a:rPr lang="es-ES" dirty="0"/>
              <a:t>“La interfaz también debe tener estados explícitos.”</a:t>
            </a:r>
          </a:p>
          <a:p>
            <a:r>
              <a:rPr lang="es-ES" b="1" dirty="0"/>
              <a:t>Qué contar</a:t>
            </a:r>
          </a:p>
          <a:p>
            <a:r>
              <a:rPr lang="es-ES" dirty="0"/>
              <a:t>Separar:</a:t>
            </a:r>
          </a:p>
          <a:p>
            <a:pPr lvl="1"/>
            <a:r>
              <a:rPr lang="es-ES" dirty="0"/>
              <a:t>presentación,</a:t>
            </a:r>
          </a:p>
          <a:p>
            <a:pPr lvl="1"/>
            <a:r>
              <a:rPr lang="es-ES" dirty="0"/>
              <a:t>lógica distribuida.</a:t>
            </a:r>
          </a:p>
          <a:p>
            <a:r>
              <a:rPr lang="es-ES" dirty="0"/>
              <a:t>La CLI nunca muta el juego directamente.</a:t>
            </a:r>
          </a:p>
          <a:p>
            <a:r>
              <a:rPr lang="es-ES" b="1" dirty="0"/>
              <a:t>Idea fuerte</a:t>
            </a:r>
          </a:p>
          <a:p>
            <a:r>
              <a:rPr lang="es-ES" dirty="0"/>
              <a:t>“Hasta la UI puede romper consistencia si se diseña mal.”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417880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b="1" dirty="0"/>
              <a:t>Mensaje clave</a:t>
            </a:r>
          </a:p>
          <a:p>
            <a:r>
              <a:rPr lang="es-ES" dirty="0"/>
              <a:t>“La tolerancia a fallos debe demostrarse ejecutando fallos.”</a:t>
            </a:r>
          </a:p>
          <a:p>
            <a:r>
              <a:rPr lang="es-ES" b="1" dirty="0"/>
              <a:t>Qué contar</a:t>
            </a:r>
          </a:p>
          <a:p>
            <a:r>
              <a:rPr lang="es-ES" dirty="0"/>
              <a:t>Matar líder.</a:t>
            </a:r>
          </a:p>
          <a:p>
            <a:r>
              <a:rPr lang="es-ES" dirty="0"/>
              <a:t>Reiniciar nodos.</a:t>
            </a:r>
          </a:p>
          <a:p>
            <a:r>
              <a:rPr lang="es-ES" dirty="0"/>
              <a:t>Particionar red.</a:t>
            </a:r>
          </a:p>
          <a:p>
            <a:r>
              <a:rPr lang="es-ES" dirty="0"/>
              <a:t>Mostrar que el sistema converge.</a:t>
            </a:r>
          </a:p>
          <a:p>
            <a:r>
              <a:rPr lang="es-ES" b="1" dirty="0"/>
              <a:t>Idea fuerte</a:t>
            </a:r>
          </a:p>
          <a:p>
            <a:r>
              <a:rPr lang="es-ES" dirty="0"/>
              <a:t>“Un sistema tolerante a fallos se prueba rompiéndolo.”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6912519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b="1" dirty="0"/>
              <a:t>Mensaje clave</a:t>
            </a:r>
          </a:p>
          <a:p>
            <a:r>
              <a:rPr lang="es-ES" dirty="0"/>
              <a:t>“La mayoría de errores graves son conceptuales, no sintácticos.”</a:t>
            </a:r>
          </a:p>
          <a:p>
            <a:r>
              <a:rPr lang="es-ES" b="1" dirty="0"/>
              <a:t>Qué contar</a:t>
            </a:r>
          </a:p>
          <a:p>
            <a:r>
              <a:rPr lang="es-ES" dirty="0"/>
              <a:t>Aplicar antes del </a:t>
            </a:r>
            <a:r>
              <a:rPr lang="es-ES" dirty="0" err="1"/>
              <a:t>commit</a:t>
            </a:r>
            <a:r>
              <a:rPr lang="es-ES" dirty="0"/>
              <a:t>.</a:t>
            </a:r>
          </a:p>
          <a:p>
            <a:r>
              <a:rPr lang="es-ES" dirty="0"/>
              <a:t>Replicar </a:t>
            </a:r>
            <a:r>
              <a:rPr lang="es-ES" dirty="0" err="1"/>
              <a:t>ticks</a:t>
            </a:r>
            <a:r>
              <a:rPr lang="es-ES" dirty="0"/>
              <a:t>.</a:t>
            </a:r>
          </a:p>
          <a:p>
            <a:r>
              <a:rPr lang="es-ES" dirty="0"/>
              <a:t>Estado escondido.</a:t>
            </a:r>
          </a:p>
          <a:p>
            <a:r>
              <a:rPr lang="es-ES" b="1" dirty="0"/>
              <a:t>Idea fuerte</a:t>
            </a:r>
          </a:p>
          <a:p>
            <a:r>
              <a:rPr lang="es-ES" dirty="0"/>
              <a:t>“Muchos bugs distribuidos aparecen porque el sistema tiene estado implícito.”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1350538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b="1" dirty="0"/>
              <a:t>Mensaje clave</a:t>
            </a:r>
          </a:p>
          <a:p>
            <a:r>
              <a:rPr lang="es-ES" dirty="0"/>
              <a:t>“Los detalles pequeños destruyen sistemas distribuidos.”</a:t>
            </a:r>
          </a:p>
          <a:p>
            <a:r>
              <a:rPr lang="es-ES" b="1" dirty="0"/>
              <a:t>Qué contar</a:t>
            </a:r>
          </a:p>
          <a:p>
            <a:r>
              <a:rPr lang="es-ES" dirty="0"/>
              <a:t>Hash ambiguo.</a:t>
            </a:r>
          </a:p>
          <a:p>
            <a:r>
              <a:rPr lang="es-ES" dirty="0"/>
              <a:t>Nonce reutilizado.</a:t>
            </a:r>
          </a:p>
          <a:p>
            <a:r>
              <a:rPr lang="es-ES" dirty="0"/>
              <a:t>Logs ilegibles.</a:t>
            </a:r>
          </a:p>
          <a:p>
            <a:r>
              <a:rPr lang="es-ES" b="1" dirty="0"/>
              <a:t>Punto importante</a:t>
            </a:r>
          </a:p>
          <a:p>
            <a:r>
              <a:rPr lang="es-ES" dirty="0"/>
              <a:t>“La </a:t>
            </a:r>
            <a:r>
              <a:rPr lang="es-ES" dirty="0" err="1"/>
              <a:t>observabilidad</a:t>
            </a:r>
            <a:r>
              <a:rPr lang="es-ES" dirty="0"/>
              <a:t> también es parte del diseño distribuido.”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1593616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b="1" dirty="0"/>
              <a:t>Mensaje clave</a:t>
            </a:r>
          </a:p>
          <a:p>
            <a:r>
              <a:rPr lang="es-ES" dirty="0"/>
              <a:t>“El objetivo del curso es aprender a construir sistemas verificables y reproducibles.”</a:t>
            </a:r>
          </a:p>
          <a:p>
            <a:r>
              <a:rPr lang="es-ES" b="1" dirty="0"/>
              <a:t>Qué contar</a:t>
            </a:r>
          </a:p>
          <a:p>
            <a:r>
              <a:rPr lang="es-ES" dirty="0"/>
              <a:t>Reforzar las cuatro ideas:</a:t>
            </a:r>
          </a:p>
          <a:p>
            <a:r>
              <a:rPr lang="es-ES" dirty="0"/>
              <a:t>especificar antes de programar,</a:t>
            </a:r>
          </a:p>
          <a:p>
            <a:r>
              <a:rPr lang="es-ES" dirty="0"/>
              <a:t>FSM pura y determinista,</a:t>
            </a:r>
          </a:p>
          <a:p>
            <a:r>
              <a:rPr lang="es-ES" dirty="0"/>
              <a:t>Raft ordena,</a:t>
            </a:r>
          </a:p>
          <a:p>
            <a:r>
              <a:rPr lang="es-ES" dirty="0" err="1"/>
              <a:t>snapshot</a:t>
            </a:r>
            <a:r>
              <a:rPr lang="es-ES" dirty="0"/>
              <a:t> + replay son obligatorios.</a:t>
            </a:r>
          </a:p>
          <a:p>
            <a:r>
              <a:rPr lang="es-ES" b="1" dirty="0"/>
              <a:t>Cierre</a:t>
            </a:r>
          </a:p>
          <a:p>
            <a:r>
              <a:rPr lang="es-ES" dirty="0"/>
              <a:t>“Un sistema distribuido fiable no aparece por añadir red; aparece por controlar explícitamente estado, orden y causalidad.”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28239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645225" y="2762725"/>
            <a:ext cx="8034900" cy="11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None/>
              <a:defRPr sz="3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9pPr>
          </a:lstStyle>
          <a:p>
            <a:r>
              <a:rPr lang="es-ES"/>
              <a:t>Haga clic para modificar el estilo de título del patrón</a:t>
            </a:r>
            <a:endParaRPr dirty="0"/>
          </a:p>
        </p:txBody>
      </p:sp>
      <p:sp>
        <p:nvSpPr>
          <p:cNvPr id="12" name="Google Shape;12;p2"/>
          <p:cNvSpPr/>
          <p:nvPr/>
        </p:nvSpPr>
        <p:spPr>
          <a:xfrm>
            <a:off x="5938246" y="2533163"/>
            <a:ext cx="721800" cy="7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6659861" y="2533163"/>
            <a:ext cx="721800" cy="7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-1" y="2533163"/>
            <a:ext cx="721800" cy="7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721425" y="2533163"/>
            <a:ext cx="5216700" cy="7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 sz="1300">
                <a:solidFill>
                  <a:schemeClr val="dk1"/>
                </a:solidFill>
              </a:defRPr>
            </a:lvl1pPr>
            <a:lvl2pPr lvl="1">
              <a:buNone/>
              <a:defRPr sz="1300">
                <a:solidFill>
                  <a:schemeClr val="dk1"/>
                </a:solidFill>
              </a:defRPr>
            </a:lvl2pPr>
            <a:lvl3pPr lvl="2">
              <a:buNone/>
              <a:defRPr sz="1300">
                <a:solidFill>
                  <a:schemeClr val="dk1"/>
                </a:solidFill>
              </a:defRPr>
            </a:lvl3pPr>
            <a:lvl4pPr lvl="3">
              <a:buNone/>
              <a:defRPr sz="1300">
                <a:solidFill>
                  <a:schemeClr val="dk1"/>
                </a:solidFill>
              </a:defRPr>
            </a:lvl4pPr>
            <a:lvl5pPr lvl="4">
              <a:buNone/>
              <a:defRPr sz="1300">
                <a:solidFill>
                  <a:schemeClr val="dk1"/>
                </a:solidFill>
              </a:defRPr>
            </a:lvl5pPr>
            <a:lvl6pPr lvl="5">
              <a:buNone/>
              <a:defRPr sz="1300">
                <a:solidFill>
                  <a:schemeClr val="dk1"/>
                </a:solidFill>
              </a:defRPr>
            </a:lvl6pPr>
            <a:lvl7pPr lvl="6">
              <a:buNone/>
              <a:defRPr sz="1300">
                <a:solidFill>
                  <a:schemeClr val="dk1"/>
                </a:solidFill>
              </a:defRPr>
            </a:lvl7pPr>
            <a:lvl8pPr lvl="7">
              <a:buNone/>
              <a:defRPr sz="1300">
                <a:solidFill>
                  <a:schemeClr val="dk1"/>
                </a:solidFill>
              </a:defRPr>
            </a:lvl8pPr>
            <a:lvl9pPr lvl="8">
              <a:buNone/>
              <a:defRPr sz="1300">
                <a:solidFill>
                  <a:schemeClr val="dk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PM">
  <p:cSld name="TITLE_1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0" y="0"/>
            <a:ext cx="9144000" cy="399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ctrTitle"/>
          </p:nvPr>
        </p:nvSpPr>
        <p:spPr>
          <a:xfrm>
            <a:off x="685800" y="1583342"/>
            <a:ext cx="7772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r>
              <a:rPr lang="es-ES"/>
              <a:t>Haga clic para modificar el estilo de título del patrón</a:t>
            </a:r>
            <a:endParaRPr dirty="0"/>
          </a:p>
        </p:txBody>
      </p:sp>
      <p:sp>
        <p:nvSpPr>
          <p:cNvPr id="20" name="Google Shape;20;p3"/>
          <p:cNvSpPr txBox="1">
            <a:spLocks noGrp="1"/>
          </p:cNvSpPr>
          <p:nvPr>
            <p:ph type="subTitle" idx="1"/>
          </p:nvPr>
        </p:nvSpPr>
        <p:spPr>
          <a:xfrm>
            <a:off x="685800" y="2840053"/>
            <a:ext cx="7772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>
                <a:solidFill>
                  <a:schemeClr val="lt1"/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dirty="0"/>
          </a:p>
        </p:txBody>
      </p:sp>
      <p:sp>
        <p:nvSpPr>
          <p:cNvPr id="21" name="Google Shape;21;p3"/>
          <p:cNvSpPr/>
          <p:nvPr/>
        </p:nvSpPr>
        <p:spPr>
          <a:xfrm>
            <a:off x="3047704" y="3992850"/>
            <a:ext cx="3047700" cy="7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6096271" y="3992850"/>
            <a:ext cx="3047700" cy="7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1" y="3992850"/>
            <a:ext cx="3047700" cy="7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 sz="1300">
                <a:solidFill>
                  <a:schemeClr val="dk1"/>
                </a:solidFill>
              </a:defRPr>
            </a:lvl1pPr>
            <a:lvl2pPr lvl="1">
              <a:buNone/>
              <a:defRPr sz="1300">
                <a:solidFill>
                  <a:schemeClr val="dk1"/>
                </a:solidFill>
              </a:defRPr>
            </a:lvl2pPr>
            <a:lvl3pPr lvl="2">
              <a:buNone/>
              <a:defRPr sz="1300">
                <a:solidFill>
                  <a:schemeClr val="dk1"/>
                </a:solidFill>
              </a:defRPr>
            </a:lvl3pPr>
            <a:lvl4pPr lvl="3">
              <a:buNone/>
              <a:defRPr sz="1300">
                <a:solidFill>
                  <a:schemeClr val="dk1"/>
                </a:solidFill>
              </a:defRPr>
            </a:lvl4pPr>
            <a:lvl5pPr lvl="4">
              <a:buNone/>
              <a:defRPr sz="1300">
                <a:solidFill>
                  <a:schemeClr val="dk1"/>
                </a:solidFill>
              </a:defRPr>
            </a:lvl5pPr>
            <a:lvl6pPr lvl="5">
              <a:buNone/>
              <a:defRPr sz="1300">
                <a:solidFill>
                  <a:schemeClr val="dk1"/>
                </a:solidFill>
              </a:defRPr>
            </a:lvl6pPr>
            <a:lvl7pPr lvl="6">
              <a:buNone/>
              <a:defRPr sz="1300">
                <a:solidFill>
                  <a:schemeClr val="dk1"/>
                </a:solidFill>
              </a:defRPr>
            </a:lvl7pPr>
            <a:lvl8pPr lvl="7">
              <a:buNone/>
              <a:defRPr sz="1300">
                <a:solidFill>
                  <a:schemeClr val="dk1"/>
                </a:solidFill>
              </a:defRPr>
            </a:lvl8pPr>
            <a:lvl9pPr lvl="8">
              <a:buNone/>
              <a:defRPr sz="1300">
                <a:solidFill>
                  <a:schemeClr val="dk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34668" y="41000"/>
            <a:ext cx="1284474" cy="1304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1710425" y="2161800"/>
            <a:ext cx="5723700" cy="81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algn="ctr" rtl="0">
              <a:spcBef>
                <a:spcPts val="600"/>
              </a:spcBef>
              <a:spcAft>
                <a:spcPts val="0"/>
              </a:spcAft>
              <a:buSzPts val="2400"/>
              <a:buFont typeface="EB Garamond"/>
              <a:buNone/>
              <a:defRPr i="1">
                <a:latin typeface="EB Garamond ExtraBold"/>
                <a:ea typeface="EB Garamond ExtraBold"/>
                <a:cs typeface="EB Garamond ExtraBold"/>
                <a:sym typeface="EB Garamond"/>
              </a:defRPr>
            </a:lvl1pPr>
            <a:lvl2pPr marL="914400" lvl="1" indent="-381000" algn="ctr" rtl="0"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Char char="○"/>
              <a:defRPr i="1">
                <a:latin typeface="EB Garamond ExtraBold"/>
                <a:ea typeface="EB Garamond ExtraBold"/>
                <a:cs typeface="EB Garamond ExtraBold"/>
                <a:sym typeface="EB Garamond"/>
              </a:defRPr>
            </a:lvl2pPr>
            <a:lvl3pPr marL="1371600" lvl="2" indent="-381000" algn="ctr" rtl="0"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Char char="■"/>
              <a:defRPr i="1">
                <a:latin typeface="EB Garamond ExtraBold"/>
                <a:ea typeface="EB Garamond ExtraBold"/>
                <a:cs typeface="EB Garamond ExtraBold"/>
                <a:sym typeface="EB Garamond"/>
              </a:defRPr>
            </a:lvl3pPr>
            <a:lvl4pPr marL="1828800" lvl="3" indent="-381000" algn="ctr" rtl="0"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Char char="●"/>
              <a:defRPr i="1">
                <a:latin typeface="EB Garamond ExtraBold"/>
                <a:ea typeface="EB Garamond ExtraBold"/>
                <a:cs typeface="EB Garamond ExtraBold"/>
                <a:sym typeface="EB Garamond"/>
              </a:defRPr>
            </a:lvl4pPr>
            <a:lvl5pPr marL="2286000" lvl="4" indent="-381000" algn="ctr" rtl="0"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Char char="○"/>
              <a:defRPr i="1">
                <a:latin typeface="EB Garamond ExtraBold"/>
                <a:ea typeface="EB Garamond ExtraBold"/>
                <a:cs typeface="EB Garamond ExtraBold"/>
                <a:sym typeface="EB Garamond"/>
              </a:defRPr>
            </a:lvl5pPr>
            <a:lvl6pPr marL="2743200" lvl="5" indent="-381000" algn="ctr" rtl="0"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Char char="■"/>
              <a:defRPr i="1">
                <a:latin typeface="EB Garamond ExtraBold"/>
                <a:ea typeface="EB Garamond ExtraBold"/>
                <a:cs typeface="EB Garamond ExtraBold"/>
                <a:sym typeface="EB Garamond"/>
              </a:defRPr>
            </a:lvl6pPr>
            <a:lvl7pPr marL="3200400" lvl="6" indent="-381000" algn="ctr" rtl="0"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Char char="●"/>
              <a:defRPr i="1">
                <a:latin typeface="EB Garamond ExtraBold"/>
                <a:ea typeface="EB Garamond ExtraBold"/>
                <a:cs typeface="EB Garamond ExtraBold"/>
                <a:sym typeface="EB Garamond"/>
              </a:defRPr>
            </a:lvl7pPr>
            <a:lvl8pPr marL="3657600" lvl="7" indent="-381000" algn="ctr" rtl="0"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Char char="○"/>
              <a:defRPr i="1">
                <a:latin typeface="EB Garamond ExtraBold"/>
                <a:ea typeface="EB Garamond ExtraBold"/>
                <a:cs typeface="EB Garamond ExtraBold"/>
                <a:sym typeface="EB Garamond"/>
              </a:defRPr>
            </a:lvl8pPr>
            <a:lvl9pPr marL="4114800" lvl="8" indent="-381000" algn="ctr"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Char char="■"/>
              <a:defRPr i="1">
                <a:latin typeface="EB Garamond ExtraBold"/>
                <a:ea typeface="EB Garamond ExtraBold"/>
                <a:cs typeface="EB Garamond ExtraBold"/>
                <a:sym typeface="EB Garamond"/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8" name="Google Shape;28;p4"/>
          <p:cNvSpPr txBox="1"/>
          <p:nvPr/>
        </p:nvSpPr>
        <p:spPr>
          <a:xfrm>
            <a:off x="3593400" y="1181419"/>
            <a:ext cx="1957200" cy="6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600" b="1" dirty="0">
                <a:solidFill>
                  <a:schemeClr val="accent6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“</a:t>
            </a:r>
            <a:endParaRPr sz="9600" b="1" dirty="0">
              <a:solidFill>
                <a:schemeClr val="accent6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5723283" y="1599675"/>
            <a:ext cx="1710300" cy="7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7434177" y="1599675"/>
            <a:ext cx="1710300" cy="7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0" y="1599675"/>
            <a:ext cx="1710300" cy="7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1710425" y="1599675"/>
            <a:ext cx="1710300" cy="7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sldNum" idx="12"/>
          </p:nvPr>
        </p:nvSpPr>
        <p:spPr>
          <a:xfrm>
            <a:off x="-125" y="4830281"/>
            <a:ext cx="91440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None/>
              <a:defRPr/>
            </a:lvl1pPr>
            <a:lvl2pPr lvl="1" algn="ctr">
              <a:buNone/>
              <a:defRPr/>
            </a:lvl2pPr>
            <a:lvl3pPr lvl="2" algn="ctr">
              <a:buNone/>
              <a:defRPr/>
            </a:lvl3pPr>
            <a:lvl4pPr lvl="3" algn="ctr">
              <a:buNone/>
              <a:defRPr/>
            </a:lvl4pPr>
            <a:lvl5pPr lvl="4" algn="ctr">
              <a:buNone/>
              <a:defRPr/>
            </a:lvl5pPr>
            <a:lvl6pPr lvl="5" algn="ctr">
              <a:buNone/>
              <a:defRPr/>
            </a:lvl6pPr>
            <a:lvl7pPr lvl="6" algn="ctr">
              <a:buNone/>
              <a:defRPr/>
            </a:lvl7pPr>
            <a:lvl8pPr lvl="7" algn="ctr">
              <a:buNone/>
              <a:defRPr/>
            </a:lvl8pPr>
            <a:lvl9pPr lvl="8" algn="ctr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_AND_TWO_COLUMNS_1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/>
          <p:nvPr/>
        </p:nvSpPr>
        <p:spPr>
          <a:xfrm>
            <a:off x="7356366" y="5066325"/>
            <a:ext cx="893700" cy="7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7"/>
          <p:cNvSpPr/>
          <p:nvPr/>
        </p:nvSpPr>
        <p:spPr>
          <a:xfrm>
            <a:off x="8250312" y="5066325"/>
            <a:ext cx="893700" cy="7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7"/>
          <p:cNvSpPr/>
          <p:nvPr/>
        </p:nvSpPr>
        <p:spPr>
          <a:xfrm>
            <a:off x="0" y="5066325"/>
            <a:ext cx="893700" cy="7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7"/>
          <p:cNvSpPr/>
          <p:nvPr/>
        </p:nvSpPr>
        <p:spPr>
          <a:xfrm>
            <a:off x="893710" y="5066325"/>
            <a:ext cx="6462600" cy="7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7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 dirty="0"/>
          </a:p>
        </p:txBody>
      </p:sp>
      <p:sp>
        <p:nvSpPr>
          <p:cNvPr id="59" name="Google Shape;59;p7"/>
          <p:cNvSpPr txBox="1">
            <a:spLocks noGrp="1"/>
          </p:cNvSpPr>
          <p:nvPr>
            <p:ph type="title"/>
          </p:nvPr>
        </p:nvSpPr>
        <p:spPr>
          <a:xfrm>
            <a:off x="218250" y="129800"/>
            <a:ext cx="84333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 dirty="0"/>
          </a:p>
        </p:txBody>
      </p:sp>
      <p:sp>
        <p:nvSpPr>
          <p:cNvPr id="60" name="Google Shape;60;p7"/>
          <p:cNvSpPr txBox="1">
            <a:spLocks noGrp="1"/>
          </p:cNvSpPr>
          <p:nvPr>
            <p:ph type="title" idx="2"/>
          </p:nvPr>
        </p:nvSpPr>
        <p:spPr>
          <a:xfrm>
            <a:off x="218250" y="53600"/>
            <a:ext cx="7941300" cy="31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61" name="Google Shape;61;p7"/>
          <p:cNvSpPr txBox="1">
            <a:spLocks noGrp="1"/>
          </p:cNvSpPr>
          <p:nvPr>
            <p:ph type="body" idx="1"/>
          </p:nvPr>
        </p:nvSpPr>
        <p:spPr>
          <a:xfrm>
            <a:off x="340775" y="955575"/>
            <a:ext cx="2754600" cy="38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bg2"/>
              </a:buClr>
              <a:buSzPts val="2200"/>
              <a:buFont typeface="Arial" panose="020B0604020202020204" pitchFamily="34" charset="0"/>
              <a:buChar char="•"/>
              <a:defRPr>
                <a:solidFill>
                  <a:schemeClr val="dk1"/>
                </a:solidFill>
                <a:latin typeface="Libre Franklin" pitchFamily="2" charset="77"/>
                <a:ea typeface="Libre Franklin" pitchFamily="2" charset="77"/>
                <a:cs typeface="Libre Franklin" pitchFamily="2" charset="77"/>
                <a:sym typeface="Raleway"/>
              </a:defRPr>
            </a:lvl1pPr>
            <a:lvl2pPr marL="914400" lvl="1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Char char="○"/>
              <a:defRPr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lvl="2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Char char="■"/>
              <a:defRPr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lvl="3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Char char="●"/>
              <a:defRPr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lvl="4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Char char="○"/>
              <a:defRPr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lvl="5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Char char="■"/>
              <a:defRPr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lvl="6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Char char="●"/>
              <a:defRPr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lvl="7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Char char="○"/>
              <a:defRPr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lvl="8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Char char="■"/>
              <a:defRPr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2" name="Google Shape;62;p7"/>
          <p:cNvSpPr txBox="1">
            <a:spLocks noGrp="1"/>
          </p:cNvSpPr>
          <p:nvPr>
            <p:ph type="body" idx="3"/>
          </p:nvPr>
        </p:nvSpPr>
        <p:spPr>
          <a:xfrm>
            <a:off x="3095375" y="955575"/>
            <a:ext cx="2754600" cy="38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bg2"/>
              </a:buClr>
              <a:buSzPts val="2200"/>
              <a:buFont typeface="Arial" panose="020B0604020202020204" pitchFamily="34" charset="0"/>
              <a:buChar char="•"/>
              <a:defRPr>
                <a:solidFill>
                  <a:schemeClr val="dk1"/>
                </a:solidFill>
                <a:latin typeface="Libre Franklin" pitchFamily="2" charset="77"/>
                <a:ea typeface="Libre Franklin" pitchFamily="2" charset="77"/>
                <a:cs typeface="Libre Franklin" pitchFamily="2" charset="77"/>
                <a:sym typeface="Raleway"/>
              </a:defRPr>
            </a:lvl1pPr>
            <a:lvl2pPr marL="914400" lvl="1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Char char="○"/>
              <a:defRPr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lvl="2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Char char="■"/>
              <a:defRPr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lvl="3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Char char="●"/>
              <a:defRPr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lvl="4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Char char="○"/>
              <a:defRPr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lvl="5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Char char="■"/>
              <a:defRPr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lvl="6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Char char="●"/>
              <a:defRPr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lvl="7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Char char="○"/>
              <a:defRPr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lvl="8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Char char="■"/>
              <a:defRPr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3" name="Google Shape;63;p7"/>
          <p:cNvSpPr txBox="1">
            <a:spLocks noGrp="1"/>
          </p:cNvSpPr>
          <p:nvPr>
            <p:ph type="body" idx="4"/>
          </p:nvPr>
        </p:nvSpPr>
        <p:spPr>
          <a:xfrm>
            <a:off x="6002350" y="955575"/>
            <a:ext cx="2754600" cy="38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bg2"/>
              </a:buClr>
              <a:buSzPts val="2200"/>
              <a:buFont typeface="Arial" panose="020B0604020202020204" pitchFamily="34" charset="0"/>
              <a:buChar char="•"/>
              <a:defRPr>
                <a:solidFill>
                  <a:schemeClr val="dk1"/>
                </a:solidFill>
                <a:latin typeface="Libre Franklin" pitchFamily="2" charset="77"/>
                <a:ea typeface="Libre Franklin" pitchFamily="2" charset="77"/>
                <a:cs typeface="Libre Franklin" pitchFamily="2" charset="77"/>
                <a:sym typeface="Raleway"/>
              </a:defRPr>
            </a:lvl1pPr>
            <a:lvl2pPr marL="914400" lvl="1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Char char="○"/>
              <a:defRPr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lvl="2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Char char="■"/>
              <a:defRPr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lvl="3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Char char="●"/>
              <a:defRPr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lvl="4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Char char="○"/>
              <a:defRPr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lvl="5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Char char="■"/>
              <a:defRPr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lvl="6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Char char="●"/>
              <a:defRPr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lvl="7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Char char="○"/>
              <a:defRPr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lvl="8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Char char="■"/>
              <a:defRPr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8"/>
          <p:cNvSpPr/>
          <p:nvPr/>
        </p:nvSpPr>
        <p:spPr>
          <a:xfrm>
            <a:off x="7356366" y="5066325"/>
            <a:ext cx="893700" cy="7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8"/>
          <p:cNvSpPr/>
          <p:nvPr/>
        </p:nvSpPr>
        <p:spPr>
          <a:xfrm>
            <a:off x="8250312" y="5066325"/>
            <a:ext cx="893700" cy="7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8"/>
          <p:cNvSpPr/>
          <p:nvPr/>
        </p:nvSpPr>
        <p:spPr>
          <a:xfrm>
            <a:off x="0" y="5066325"/>
            <a:ext cx="893700" cy="7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8"/>
          <p:cNvSpPr/>
          <p:nvPr/>
        </p:nvSpPr>
        <p:spPr>
          <a:xfrm>
            <a:off x="893710" y="5066325"/>
            <a:ext cx="6462600" cy="7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8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  <p:sp>
        <p:nvSpPr>
          <p:cNvPr id="70" name="Google Shape;70;p8"/>
          <p:cNvSpPr txBox="1">
            <a:spLocks noGrp="1"/>
          </p:cNvSpPr>
          <p:nvPr>
            <p:ph type="title"/>
          </p:nvPr>
        </p:nvSpPr>
        <p:spPr>
          <a:xfrm>
            <a:off x="218250" y="129800"/>
            <a:ext cx="84333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 dirty="0"/>
          </a:p>
        </p:txBody>
      </p:sp>
      <p:sp>
        <p:nvSpPr>
          <p:cNvPr id="71" name="Google Shape;71;p8"/>
          <p:cNvSpPr txBox="1">
            <a:spLocks noGrp="1"/>
          </p:cNvSpPr>
          <p:nvPr>
            <p:ph type="title" idx="2"/>
          </p:nvPr>
        </p:nvSpPr>
        <p:spPr>
          <a:xfrm>
            <a:off x="218250" y="53600"/>
            <a:ext cx="7969800" cy="31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9"/>
          <p:cNvSpPr/>
          <p:nvPr/>
        </p:nvSpPr>
        <p:spPr>
          <a:xfrm>
            <a:off x="7356366" y="5066325"/>
            <a:ext cx="893700" cy="7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9"/>
          <p:cNvSpPr/>
          <p:nvPr/>
        </p:nvSpPr>
        <p:spPr>
          <a:xfrm>
            <a:off x="8250312" y="5066325"/>
            <a:ext cx="893700" cy="7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9"/>
          <p:cNvSpPr/>
          <p:nvPr/>
        </p:nvSpPr>
        <p:spPr>
          <a:xfrm>
            <a:off x="0" y="5066325"/>
            <a:ext cx="893700" cy="7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9"/>
          <p:cNvSpPr/>
          <p:nvPr/>
        </p:nvSpPr>
        <p:spPr>
          <a:xfrm>
            <a:off x="893710" y="5066325"/>
            <a:ext cx="6462600" cy="7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9"/>
          <p:cNvSpPr txBox="1">
            <a:spLocks noGrp="1"/>
          </p:cNvSpPr>
          <p:nvPr>
            <p:ph type="body" idx="1"/>
          </p:nvPr>
        </p:nvSpPr>
        <p:spPr>
          <a:xfrm>
            <a:off x="893700" y="4649963"/>
            <a:ext cx="6462600" cy="35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228600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8" name="Google Shape;78;p9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color background">
  <p:cSld name="BLANK_1">
    <p:bg>
      <p:bgPr>
        <a:solidFill>
          <a:schemeClr val="accent1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1"/>
          <p:cNvSpPr/>
          <p:nvPr/>
        </p:nvSpPr>
        <p:spPr>
          <a:xfrm>
            <a:off x="7356366" y="5066325"/>
            <a:ext cx="893700" cy="7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1"/>
          <p:cNvSpPr/>
          <p:nvPr/>
        </p:nvSpPr>
        <p:spPr>
          <a:xfrm>
            <a:off x="8250312" y="5066325"/>
            <a:ext cx="893700" cy="7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1"/>
          <p:cNvSpPr/>
          <p:nvPr/>
        </p:nvSpPr>
        <p:spPr>
          <a:xfrm>
            <a:off x="0" y="5066325"/>
            <a:ext cx="893700" cy="77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1"/>
          <p:cNvSpPr/>
          <p:nvPr/>
        </p:nvSpPr>
        <p:spPr>
          <a:xfrm>
            <a:off x="893710" y="5066325"/>
            <a:ext cx="6462600" cy="7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11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 dirty="0"/>
          </a:p>
        </p:txBody>
      </p:sp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34668" y="41000"/>
            <a:ext cx="1284474" cy="1304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color background 1">
  <p:cSld name="BLANK_1_1">
    <p:bg>
      <p:bgPr>
        <a:solidFill>
          <a:schemeClr val="accent1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2"/>
          <p:cNvSpPr/>
          <p:nvPr/>
        </p:nvSpPr>
        <p:spPr>
          <a:xfrm>
            <a:off x="0" y="0"/>
            <a:ext cx="9144000" cy="5066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94" name="Google Shape;94;p12"/>
          <p:cNvSpPr/>
          <p:nvPr/>
        </p:nvSpPr>
        <p:spPr>
          <a:xfrm>
            <a:off x="7356366" y="5066325"/>
            <a:ext cx="893700" cy="7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2"/>
          <p:cNvSpPr/>
          <p:nvPr/>
        </p:nvSpPr>
        <p:spPr>
          <a:xfrm>
            <a:off x="8250312" y="5066325"/>
            <a:ext cx="893700" cy="7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2"/>
          <p:cNvSpPr/>
          <p:nvPr/>
        </p:nvSpPr>
        <p:spPr>
          <a:xfrm>
            <a:off x="0" y="5066325"/>
            <a:ext cx="893700" cy="77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2"/>
          <p:cNvSpPr/>
          <p:nvPr/>
        </p:nvSpPr>
        <p:spPr>
          <a:xfrm>
            <a:off x="893710" y="5066325"/>
            <a:ext cx="6462600" cy="7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8" name="Google Shape;9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581889" y="1665400"/>
            <a:ext cx="3560325" cy="34009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2"/>
          <p:cNvSpPr/>
          <p:nvPr/>
        </p:nvSpPr>
        <p:spPr>
          <a:xfrm>
            <a:off x="0" y="0"/>
            <a:ext cx="9144000" cy="5066400"/>
          </a:xfrm>
          <a:prstGeom prst="rect">
            <a:avLst/>
          </a:prstGeom>
          <a:solidFill>
            <a:srgbClr val="006EB7">
              <a:alpha val="495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color background 1 1">
  <p:cSld name="BLANK_1_1_1">
    <p:bg>
      <p:bgPr>
        <a:solidFill>
          <a:schemeClr val="accent1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3"/>
          <p:cNvSpPr/>
          <p:nvPr/>
        </p:nvSpPr>
        <p:spPr>
          <a:xfrm>
            <a:off x="0" y="0"/>
            <a:ext cx="9144000" cy="5066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02" name="Google Shape;102;p13"/>
          <p:cNvSpPr/>
          <p:nvPr/>
        </p:nvSpPr>
        <p:spPr>
          <a:xfrm>
            <a:off x="7356366" y="5066325"/>
            <a:ext cx="893700" cy="7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3"/>
          <p:cNvSpPr/>
          <p:nvPr/>
        </p:nvSpPr>
        <p:spPr>
          <a:xfrm>
            <a:off x="8250312" y="5066325"/>
            <a:ext cx="893700" cy="7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3"/>
          <p:cNvSpPr/>
          <p:nvPr/>
        </p:nvSpPr>
        <p:spPr>
          <a:xfrm>
            <a:off x="0" y="5066325"/>
            <a:ext cx="893700" cy="77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3"/>
          <p:cNvSpPr/>
          <p:nvPr/>
        </p:nvSpPr>
        <p:spPr>
          <a:xfrm>
            <a:off x="893710" y="5066325"/>
            <a:ext cx="6462600" cy="7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6" name="Google Shape;106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22741" y="-75"/>
            <a:ext cx="4921259" cy="506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3"/>
          <p:cNvSpPr/>
          <p:nvPr/>
        </p:nvSpPr>
        <p:spPr>
          <a:xfrm>
            <a:off x="0" y="0"/>
            <a:ext cx="9144000" cy="5066400"/>
          </a:xfrm>
          <a:prstGeom prst="rect">
            <a:avLst/>
          </a:prstGeom>
          <a:solidFill>
            <a:srgbClr val="006EB7">
              <a:alpha val="495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_1">
  <p:cSld name="TITLE_AND_BODY_1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10" name="Google Shape;110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spcBef>
                <a:spcPts val="600"/>
              </a:spcBef>
              <a:spcAft>
                <a:spcPts val="0"/>
              </a:spcAft>
              <a:buClr>
                <a:schemeClr val="bg2"/>
              </a:buClr>
              <a:buSzPts val="2400"/>
              <a:buFont typeface="Arial" panose="020B0604020202020204" pitchFamily="34" charset="0"/>
              <a:buChar char="•"/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1" name="Google Shape;111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93700" y="358388"/>
            <a:ext cx="6462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Libre Franklin"/>
              <a:buNone/>
              <a:defRPr sz="3200">
                <a:solidFill>
                  <a:schemeClr val="accent6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Libre Franklin"/>
              <a:buNone/>
              <a:defRPr sz="3200">
                <a:solidFill>
                  <a:schemeClr val="accent6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Libre Franklin"/>
              <a:buNone/>
              <a:defRPr sz="3200">
                <a:solidFill>
                  <a:schemeClr val="accent6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Libre Franklin"/>
              <a:buNone/>
              <a:defRPr sz="3200">
                <a:solidFill>
                  <a:schemeClr val="accent6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Libre Franklin"/>
              <a:buNone/>
              <a:defRPr sz="3200">
                <a:solidFill>
                  <a:schemeClr val="accent6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Libre Franklin"/>
              <a:buNone/>
              <a:defRPr sz="3200">
                <a:solidFill>
                  <a:schemeClr val="accent6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Libre Franklin"/>
              <a:buNone/>
              <a:defRPr sz="3200">
                <a:solidFill>
                  <a:schemeClr val="accent6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Libre Franklin"/>
              <a:buNone/>
              <a:defRPr sz="3200">
                <a:solidFill>
                  <a:schemeClr val="accent6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Libre Franklin"/>
              <a:buNone/>
              <a:defRPr sz="3200">
                <a:solidFill>
                  <a:schemeClr val="accent6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93700" y="1373588"/>
            <a:ext cx="6462600" cy="3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Libre Franklin"/>
              <a:buChar char="▷"/>
              <a:defRPr sz="2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Franklin"/>
              <a:buChar char="○"/>
              <a:defRPr sz="2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Franklin"/>
              <a:buChar char="■"/>
              <a:defRPr sz="2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Franklin"/>
              <a:buChar char="●"/>
              <a:defRPr sz="2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Franklin"/>
              <a:buChar char="○"/>
              <a:defRPr sz="2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Franklin"/>
              <a:buChar char="■"/>
              <a:defRPr sz="2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Franklin"/>
              <a:buChar char="●"/>
              <a:defRPr sz="2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Franklin"/>
              <a:buChar char="○"/>
              <a:defRPr sz="2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Franklin"/>
              <a:buChar char="■"/>
              <a:defRPr sz="2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>
                <a:solidFill>
                  <a:schemeClr val="accent6"/>
                </a:solidFill>
                <a:latin typeface="Libre Franklin" pitchFamily="2" charset="77"/>
                <a:ea typeface="Lato"/>
                <a:cs typeface="Lato"/>
                <a:sym typeface="Lato"/>
              </a:defRPr>
            </a:lvl1pPr>
            <a:lvl2pPr lvl="1" algn="r">
              <a:buNone/>
              <a:defRPr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00000000-1234-1234-1234-123412341234}" type="slidenum">
              <a:rPr lang="en-GB" smtClean="0"/>
              <a:pPr/>
              <a:t>‹Nº›</a:t>
            </a:fld>
            <a:endParaRPr lang="en-GB" dirty="0">
              <a:latin typeface="Libre Franklin" pitchFamily="2" charset="77"/>
            </a:endParaRPr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811373" y="19825"/>
            <a:ext cx="1332628" cy="135377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3" r:id="rId4"/>
    <p:sldLayoutId id="2147483654" r:id="rId5"/>
    <p:sldLayoutId id="2147483655" r:id="rId6"/>
    <p:sldLayoutId id="2147483657" r:id="rId7"/>
    <p:sldLayoutId id="2147483658" r:id="rId8"/>
    <p:sldLayoutId id="2147483659" r:id="rId9"/>
    <p:sldLayoutId id="2147483660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Libre Franklin" pitchFamily="2" charset="77"/>
          <a:ea typeface="Libre Franklin" pitchFamily="2" charset="77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76200" marR="0" lvl="0" indent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chemeClr val="bg2"/>
        </a:buClr>
        <a:buFont typeface="Arial" panose="020B0604020202020204" pitchFamily="34" charset="0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6"/>
          <p:cNvSpPr txBox="1">
            <a:spLocks noGrp="1"/>
          </p:cNvSpPr>
          <p:nvPr>
            <p:ph type="ctrTitle"/>
          </p:nvPr>
        </p:nvSpPr>
        <p:spPr>
          <a:xfrm>
            <a:off x="685800" y="1583342"/>
            <a:ext cx="7772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l">
              <a:buNone/>
            </a:pPr>
            <a:r>
              <a:rPr lang="es-ES" sz="3600" b="1" dirty="0">
                <a:solidFill>
                  <a:srgbClr val="FFFFFF"/>
                </a:solidFill>
              </a:rPr>
              <a:t>De FSM local a sistema distribuido tolerante a fallos</a:t>
            </a:r>
          </a:p>
        </p:txBody>
      </p:sp>
      <p:sp>
        <p:nvSpPr>
          <p:cNvPr id="121" name="Google Shape;121;p16"/>
          <p:cNvSpPr txBox="1">
            <a:spLocks noGrp="1"/>
          </p:cNvSpPr>
          <p:nvPr>
            <p:ph type="subTitle" idx="1"/>
          </p:nvPr>
        </p:nvSpPr>
        <p:spPr>
          <a:xfrm>
            <a:off x="685800" y="2840053"/>
            <a:ext cx="7772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buNone/>
            </a:pPr>
            <a:r>
              <a:rPr lang="es-ES" sz="2000" dirty="0">
                <a:solidFill>
                  <a:srgbClr val="FFFFFF"/>
                </a:solidFill>
              </a:rPr>
              <a:t>Máquinas de estados, LTL y Raft aplicados a un juego replicado en C</a:t>
            </a:r>
          </a:p>
        </p:txBody>
      </p:sp>
      <p:sp>
        <p:nvSpPr>
          <p:cNvPr id="122" name="Google Shape;122;p16"/>
          <p:cNvSpPr txBox="1"/>
          <p:nvPr/>
        </p:nvSpPr>
        <p:spPr>
          <a:xfrm>
            <a:off x="377125" y="4163525"/>
            <a:ext cx="8055600" cy="584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None/>
            </a:pPr>
            <a:r>
              <a:rPr lang="es-ES" sz="1400" b="1" dirty="0">
                <a:solidFill>
                  <a:srgbClr val="006EB7"/>
                </a:solidFill>
              </a:rPr>
              <a:t>Sistemas Empotrados Avanzados</a:t>
            </a:r>
          </a:p>
          <a:p>
            <a:pPr algn="r">
              <a:buNone/>
            </a:pPr>
            <a:r>
              <a:rPr lang="es-ES" sz="1200" dirty="0">
                <a:solidFill>
                  <a:srgbClr val="677480"/>
                </a:solidFill>
              </a:rPr>
              <a:t>Departamento de Ingeniería Electrónica · ETSI Telecomunicación · UPM</a:t>
            </a:r>
          </a:p>
        </p:txBody>
      </p:sp>
    </p:spTree>
    <p:extLst>
      <p:ext uri="{BB962C8B-B14F-4D97-AF65-F5344CB8AC3E}">
        <p14:creationId xmlns:p14="http://schemas.microsoft.com/office/powerpoint/2010/main" val="2350272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97CB8E-84C7-9650-FAD9-B43236AB5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s-ES" sz="2800" b="1" dirty="0">
                <a:solidFill>
                  <a:srgbClr val="006EB7"/>
                </a:solidFill>
              </a:rPr>
              <a:t>El problema: orden, no transporte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DA07BC0-5B78-7599-C217-4C8D05C694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sz="1400" i="1" dirty="0">
                <a:solidFill>
                  <a:srgbClr val="677480"/>
                </a:solidFill>
              </a:rPr>
              <a:t>Objetivo: entender por qué replicar mensajes no basta y qué problema resuelve el consenso.</a:t>
            </a:r>
          </a:p>
          <a:p>
            <a:pPr marL="228600" indent="-228600">
              <a:buFont typeface="Arial"/>
              <a:buChar char="•"/>
            </a:pPr>
            <a:r>
              <a:rPr lang="es-ES" sz="1600" b="1" dirty="0">
                <a:solidFill>
                  <a:srgbClr val="000000"/>
                </a:solidFill>
              </a:rPr>
              <a:t>Escenario: </a:t>
            </a:r>
            <a:r>
              <a:rPr lang="es-ES" sz="1600" dirty="0"/>
              <a:t>dos nodos reciben las mismas operaciones en distinto orden.</a:t>
            </a:r>
          </a:p>
          <a:p>
            <a:pPr marL="457200" indent="0">
              <a:buNone/>
            </a:pPr>
            <a:r>
              <a:rPr lang="es-ES" sz="1300" dirty="0">
                <a:latin typeface="Consolas"/>
              </a:rPr>
              <a:t>Nodo A:  commit(alice)  →  commit(bob)</a:t>
            </a:r>
          </a:p>
          <a:p>
            <a:pPr marL="457200" indent="0">
              <a:buNone/>
            </a:pPr>
            <a:r>
              <a:rPr lang="es-ES" sz="1300" dirty="0">
                <a:latin typeface="Consolas"/>
              </a:rPr>
              <a:t>Nodo B:  commit(bob)    →  commit(alice)</a:t>
            </a:r>
          </a:p>
          <a:p>
            <a:pPr marL="228600" indent="-228600">
              <a:buFont typeface="Arial"/>
              <a:buChar char="•"/>
            </a:pPr>
            <a:r>
              <a:rPr lang="es-ES" sz="1600" dirty="0"/>
              <a:t>Si la FSM no es conmutativa, los estados divergen aunque los mensajes lleguen.</a:t>
            </a:r>
          </a:p>
          <a:p>
            <a:pPr marL="228600" indent="-228600">
              <a:buFont typeface="Arial"/>
              <a:buChar char="•"/>
            </a:pPr>
            <a:r>
              <a:rPr lang="es-ES" sz="1600" dirty="0"/>
              <a:t>Reintentos, pérdidas y particiones empeoran el problema.</a:t>
            </a:r>
          </a:p>
          <a:p>
            <a:pPr marL="0" indent="0" algn="ctr">
              <a:buNone/>
            </a:pPr>
            <a:r>
              <a:rPr lang="es-ES" sz="1500" b="1" dirty="0">
                <a:solidFill>
                  <a:srgbClr val="006EB7"/>
                </a:solidFill>
              </a:rPr>
              <a:t>No basta con enviar mensajes: hay que acordar un orden único de eventos.</a:t>
            </a:r>
          </a:p>
        </p:txBody>
      </p:sp>
    </p:spTree>
    <p:extLst>
      <p:ext uri="{BB962C8B-B14F-4D97-AF65-F5344CB8AC3E}">
        <p14:creationId xmlns:p14="http://schemas.microsoft.com/office/powerpoint/2010/main" val="2798877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D7E164-5D87-CFF0-3DA1-72E752DD9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s-ES" sz="2800" b="1" dirty="0">
                <a:solidFill>
                  <a:srgbClr val="006EB7"/>
                </a:solidFill>
              </a:rPr>
              <a:t>Metodología: del enunciado al cluster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7129697-1D3A-CD61-65B6-A60122D529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sz="1400" i="1" dirty="0">
                <a:solidFill>
                  <a:srgbClr val="677480"/>
                </a:solidFill>
              </a:rPr>
              <a:t>Objetivo: ubicar cada fase del pipeline y qué artefacto produce.</a:t>
            </a:r>
          </a:p>
          <a:p>
            <a:pPr marL="0" indent="0" algn="ctr">
              <a:buNone/>
            </a:pPr>
            <a:r>
              <a:rPr lang="es-ES" sz="1500" b="1" dirty="0">
                <a:latin typeface="Consolas"/>
              </a:rPr>
              <a:t>LTL  →  FSM  →  C local  →  Raft  →  Verificación</a:t>
            </a:r>
          </a:p>
          <a:p>
            <a:pPr marL="228600" indent="-228600">
              <a:buFont typeface="Arial"/>
              <a:buChar char="•"/>
            </a:pPr>
            <a:r>
              <a:rPr lang="es-ES" sz="1500" b="1" dirty="0">
                <a:solidFill>
                  <a:srgbClr val="006EB7"/>
                </a:solidFill>
              </a:rPr>
              <a:t>LTL: </a:t>
            </a:r>
            <a:r>
              <a:rPr lang="es-ES" sz="1500" dirty="0"/>
              <a:t>propiedades de safety y liveness verificables con SPIN.</a:t>
            </a:r>
          </a:p>
          <a:p>
            <a:pPr marL="228600" indent="-228600">
              <a:buFont typeface="Arial"/>
              <a:buChar char="•"/>
            </a:pPr>
            <a:r>
              <a:rPr lang="es-ES" sz="1500" b="1" dirty="0">
                <a:solidFill>
                  <a:srgbClr val="006EB7"/>
                </a:solidFill>
              </a:rPr>
              <a:t>FSM: </a:t>
            </a:r>
            <a:r>
              <a:rPr lang="es-ES" sz="1500" dirty="0"/>
              <a:t>estados, eventos, guardas y acciones, una transición por línea.</a:t>
            </a:r>
          </a:p>
          <a:p>
            <a:pPr marL="228600" indent="-228600">
              <a:buFont typeface="Arial"/>
              <a:buChar char="•"/>
            </a:pPr>
            <a:r>
              <a:rPr lang="es-ES" sz="1500" b="1" dirty="0">
                <a:solidFill>
                  <a:srgbClr val="006EB7"/>
                </a:solidFill>
              </a:rPr>
              <a:t>C local: </a:t>
            </a:r>
            <a:r>
              <a:rPr lang="es-ES" sz="1500" dirty="0"/>
              <a:t>implementación determinista, sin red, testeable en host.</a:t>
            </a:r>
          </a:p>
          <a:p>
            <a:pPr marL="228600" indent="-228600">
              <a:buFont typeface="Arial"/>
              <a:buChar char="•"/>
            </a:pPr>
            <a:r>
              <a:rPr lang="es-ES" sz="1500" b="1" dirty="0">
                <a:solidFill>
                  <a:srgbClr val="006EB7"/>
                </a:solidFill>
              </a:rPr>
              <a:t>Raft: </a:t>
            </a:r>
            <a:r>
              <a:rPr lang="es-ES" sz="1500" dirty="0"/>
              <a:t>las entradas externas pasan por consenso antes de tocar la FSM.</a:t>
            </a:r>
          </a:p>
          <a:p>
            <a:pPr marL="228600" indent="-228600">
              <a:buFont typeface="Arial"/>
              <a:buChar char="•"/>
            </a:pPr>
            <a:r>
              <a:rPr lang="es-ES" sz="1500" b="1" dirty="0">
                <a:solidFill>
                  <a:srgbClr val="006EB7"/>
                </a:solidFill>
              </a:rPr>
              <a:t>Verificación: </a:t>
            </a:r>
            <a:r>
              <a:rPr lang="es-ES" sz="1500" dirty="0"/>
              <a:t>SPIN + tests unitarios + escenarios de cluster.</a:t>
            </a:r>
          </a:p>
          <a:p>
            <a:pPr marL="0" indent="0" algn="ctr">
              <a:buNone/>
            </a:pPr>
            <a:r>
              <a:rPr lang="es-ES" sz="1300" b="1" i="1" dirty="0">
                <a:solidFill>
                  <a:srgbClr val="E61931"/>
                </a:solidFill>
              </a:rPr>
              <a:t>No se empieza programando sockets. Primero se especifica qué debe ser cierto.</a:t>
            </a:r>
          </a:p>
        </p:txBody>
      </p:sp>
    </p:spTree>
    <p:extLst>
      <p:ext uri="{BB962C8B-B14F-4D97-AF65-F5344CB8AC3E}">
        <p14:creationId xmlns:p14="http://schemas.microsoft.com/office/powerpoint/2010/main" val="197036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48EDC4-7BA1-ACC8-C2BE-7DC8E3DA6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s-ES" sz="2400" b="1" dirty="0">
                <a:solidFill>
                  <a:srgbClr val="006EB7"/>
                </a:solidFill>
              </a:rPr>
              <a:t>Sistema de ejemplo: piedra-papel-tijera replicado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ABE3531-4200-8A66-8520-F85AA9EC52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sz="1400" i="1" dirty="0">
                <a:solidFill>
                  <a:srgbClr val="677480"/>
                </a:solidFill>
              </a:rPr>
              <a:t>Objetivo: presentar el dominio que usaremos durante todo el curso.</a:t>
            </a:r>
          </a:p>
          <a:p>
            <a:pPr marL="228600" indent="-228600">
              <a:buFont typeface="Arial"/>
              <a:buChar char="•"/>
            </a:pPr>
            <a:r>
              <a:rPr lang="es-ES" sz="1500" dirty="0"/>
              <a:t>N procesos idénticos; cada uno representa un jugador y un nodo Raft.</a:t>
            </a:r>
          </a:p>
          <a:p>
            <a:pPr marL="228600" indent="-228600">
              <a:buFont typeface="Arial"/>
              <a:buChar char="•"/>
            </a:pPr>
            <a:r>
              <a:rPr lang="es-ES" sz="1500" dirty="0"/>
              <a:t>Ronda en dos fases: commit (oculto) y reveal (con nonce).</a:t>
            </a:r>
          </a:p>
          <a:p>
            <a:pPr marL="228600" indent="-228600">
              <a:buFont typeface="Arial"/>
              <a:buChar char="•"/>
            </a:pPr>
            <a:r>
              <a:rPr lang="es-ES" sz="1500" dirty="0"/>
              <a:t>Mismo código en todos los nodos; el estado se reconstruye desde el log.</a:t>
            </a:r>
          </a:p>
          <a:p>
            <a:pPr marL="0" indent="0">
              <a:buNone/>
            </a:pPr>
            <a:r>
              <a:rPr lang="es-ES" sz="1400" b="1" dirty="0">
                <a:solidFill>
                  <a:schemeClr val="bg2"/>
                </a:solidFill>
              </a:rPr>
              <a:t>Estados de la FSM</a:t>
            </a:r>
          </a:p>
          <a:p>
            <a:pPr marL="0" indent="0">
              <a:buNone/>
            </a:pPr>
            <a:r>
              <a:rPr lang="es-ES" sz="1200" dirty="0">
                <a:latin typeface="Consolas"/>
              </a:rPr>
              <a:t>WAITING_PLAYERS → CONFIGURING_GAME → ROUND_OPEN → WAITING_COMMITS</a:t>
            </a:r>
          </a:p>
          <a:p>
            <a:pPr marL="0" indent="0">
              <a:buNone/>
            </a:pPr>
            <a:r>
              <a:rPr lang="es-ES" sz="1200" dirty="0">
                <a:latin typeface="Consolas"/>
              </a:rPr>
              <a:t>→ WAITING_REVEALS → RESOLVING_ROUND → ROUND_FINISHED → GAME_OVER</a:t>
            </a:r>
          </a:p>
          <a:p>
            <a:pPr marL="0" indent="0">
              <a:buNone/>
            </a:pPr>
            <a:r>
              <a:rPr lang="es-ES" sz="1400" b="1" dirty="0">
                <a:solidFill>
                  <a:schemeClr val="bg2"/>
                </a:solidFill>
              </a:rPr>
              <a:t>Operaciones replicadas (no hay </a:t>
            </a:r>
            <a:r>
              <a:rPr lang="es-ES" sz="1400" b="1" dirty="0">
                <a:solidFill>
                  <a:schemeClr val="bg2"/>
                </a:solidFill>
                <a:latin typeface="Consolas"/>
              </a:rPr>
              <a:t>tick</a:t>
            </a:r>
            <a:r>
              <a:rPr lang="es-ES" sz="1400" b="1" dirty="0">
                <a:solidFill>
                  <a:schemeClr val="bg2"/>
                </a:solidFill>
              </a:rPr>
              <a:t>)</a:t>
            </a:r>
          </a:p>
          <a:p>
            <a:pPr marL="0" indent="0">
              <a:buNone/>
            </a:pPr>
            <a:r>
              <a:rPr lang="es-ES" sz="1200" dirty="0">
                <a:latin typeface="Consolas"/>
              </a:rPr>
              <a:t>player_joined · confirm_players · configure · start_round</a:t>
            </a:r>
          </a:p>
          <a:p>
            <a:pPr marL="0" indent="0">
              <a:buNone/>
            </a:pPr>
            <a:r>
              <a:rPr lang="es-ES" sz="1200" dirty="0">
                <a:latin typeface="Consolas"/>
              </a:rPr>
              <a:t>commit_move · reveal_move · peer_set (infraestructura)</a:t>
            </a:r>
          </a:p>
        </p:txBody>
      </p:sp>
    </p:spTree>
    <p:extLst>
      <p:ext uri="{BB962C8B-B14F-4D97-AF65-F5344CB8AC3E}">
        <p14:creationId xmlns:p14="http://schemas.microsoft.com/office/powerpoint/2010/main" val="9783784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560DD4-CF72-C85C-E7AF-3F774EF71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s-ES" sz="2800" b="1" dirty="0">
                <a:solidFill>
                  <a:srgbClr val="006EB7"/>
                </a:solidFill>
              </a:rPr>
              <a:t>Qué verificamos antes de programar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9F02DBA-D2AE-027A-32B6-AE416E5176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sz="1400" i="1" dirty="0">
                <a:solidFill>
                  <a:srgbClr val="677480"/>
                </a:solidFill>
              </a:rPr>
              <a:t>Objetivo: distinguir propiedades de seguridad (safety) y progreso (liveness).</a:t>
            </a:r>
          </a:p>
          <a:p>
            <a:pPr marL="0" indent="0">
              <a:buNone/>
            </a:pPr>
            <a:r>
              <a:rPr lang="es-ES" sz="1500" b="1" dirty="0">
                <a:solidFill>
                  <a:srgbClr val="006EB7"/>
                </a:solidFill>
              </a:rPr>
              <a:t>Safety — nunca ocurre algo malo</a:t>
            </a:r>
          </a:p>
          <a:p>
            <a:pPr marL="228600" indent="-228600">
              <a:buFont typeface="Arial"/>
              <a:buChar char="•"/>
            </a:pPr>
            <a:r>
              <a:rPr lang="es-ES" sz="1500" dirty="0"/>
              <a:t>Límites en jugadores, commits y reveals.</a:t>
            </a:r>
          </a:p>
          <a:p>
            <a:pPr marL="228600" indent="-228600">
              <a:buFont typeface="Arial"/>
              <a:buChar char="•"/>
            </a:pPr>
            <a:r>
              <a:rPr lang="es-ES" sz="1500" dirty="0"/>
              <a:t>Causalidad: reveal solo después de commit; commit solo si estás registrado.</a:t>
            </a:r>
          </a:p>
          <a:p>
            <a:pPr marL="228600" indent="-228600">
              <a:buFont typeface="Arial"/>
              <a:buChar char="•"/>
            </a:pPr>
            <a:r>
              <a:rPr lang="es-ES" sz="1500" dirty="0"/>
              <a:t>Puntuación acotada; </a:t>
            </a:r>
            <a:r>
              <a:rPr lang="es-ES" sz="1500" dirty="0">
                <a:latin typeface="Consolas"/>
              </a:rPr>
              <a:t>GAME_OVER</a:t>
            </a:r>
            <a:r>
              <a:rPr lang="es-ES" sz="1500" dirty="0"/>
              <a:t> es estado absorbente.</a:t>
            </a:r>
          </a:p>
          <a:p>
            <a:pPr marL="0" indent="0">
              <a:buNone/>
            </a:pPr>
            <a:r>
              <a:rPr lang="es-ES" sz="1500" b="1" dirty="0">
                <a:solidFill>
                  <a:srgbClr val="006EB7"/>
                </a:solidFill>
              </a:rPr>
              <a:t>Liveness — algo bueno termina ocurriendo</a:t>
            </a:r>
          </a:p>
          <a:p>
            <a:pPr marL="228600" indent="-228600">
              <a:buFont typeface="Arial"/>
              <a:buChar char="•"/>
            </a:pPr>
            <a:r>
              <a:rPr lang="es-ES" sz="1500" dirty="0"/>
              <a:t>Si todos hacen commit, se llega a reveals.</a:t>
            </a:r>
          </a:p>
          <a:p>
            <a:pPr marL="228600" indent="-228600">
              <a:buFont typeface="Arial"/>
              <a:buChar char="•"/>
            </a:pPr>
            <a:r>
              <a:rPr lang="es-ES" sz="1500" dirty="0"/>
              <a:t>Si todos revelan, la ronda se resuelve.</a:t>
            </a:r>
          </a:p>
          <a:p>
            <a:pPr marL="228600" indent="-228600">
              <a:buFont typeface="Arial"/>
              <a:buChar char="•"/>
            </a:pPr>
            <a:r>
              <a:rPr lang="es-ES" sz="1500" dirty="0"/>
              <a:t>Cuando hay ganador, el sistema alcanza </a:t>
            </a:r>
            <a:r>
              <a:rPr lang="es-ES" sz="1500" dirty="0">
                <a:latin typeface="Consolas"/>
              </a:rPr>
              <a:t>GAME_OVER</a:t>
            </a:r>
            <a:r>
              <a:rPr lang="es-ES" sz="1500" dirty="0"/>
              <a:t>.</a:t>
            </a:r>
          </a:p>
          <a:p>
            <a:pPr marL="0" indent="0" algn="ctr">
              <a:buNone/>
            </a:pPr>
            <a:r>
              <a:rPr lang="es-ES" sz="1300" b="1" i="1" dirty="0">
                <a:solidFill>
                  <a:srgbClr val="E61931"/>
                </a:solidFill>
              </a:rPr>
              <a:t>Estas propiedades sobreviven al paso a Raft: la FSM replicada debe cumplirlas todas.</a:t>
            </a:r>
          </a:p>
        </p:txBody>
      </p:sp>
    </p:spTree>
    <p:extLst>
      <p:ext uri="{BB962C8B-B14F-4D97-AF65-F5344CB8AC3E}">
        <p14:creationId xmlns:p14="http://schemas.microsoft.com/office/powerpoint/2010/main" val="1414192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C2DA6A-5F39-6150-4BC6-C91CD623E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s-ES" sz="2800" b="1" dirty="0">
                <a:solidFill>
                  <a:srgbClr val="006EB7"/>
                </a:solidFill>
              </a:rPr>
              <a:t>LTL: invariantes de seguridad (P1–P5)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A3CEBD6-82AB-98C8-38FC-12534800F8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sz="1400" i="1" dirty="0">
                <a:solidFill>
                  <a:srgbClr val="677480"/>
                </a:solidFill>
              </a:rPr>
              <a:t>Objetivo: leer una propiedad LTL y saber qué bug detectaría.</a:t>
            </a:r>
          </a:p>
          <a:p>
            <a:pPr marL="0" indent="0">
              <a:buNone/>
            </a:pPr>
            <a:r>
              <a:rPr lang="es-ES" sz="1500" b="1" dirty="0">
                <a:solidFill>
                  <a:srgbClr val="006EB7"/>
                </a:solidFill>
              </a:rPr>
              <a:t>P1 · Jugadores acotados — </a:t>
            </a:r>
            <a:r>
              <a:rPr lang="es-ES" sz="1400" dirty="0">
                <a:latin typeface="Consolas"/>
              </a:rPr>
              <a:t>[] (players &lt;= 2)</a:t>
            </a:r>
          </a:p>
          <a:p>
            <a:pPr marL="228600" indent="0">
              <a:buNone/>
            </a:pPr>
            <a:r>
              <a:rPr lang="es-ES" sz="1300" dirty="0"/>
              <a:t>Detecta admisión no controlada o desbordamiento del registro de jugadores.</a:t>
            </a:r>
          </a:p>
          <a:p>
            <a:pPr marL="0" indent="0">
              <a:buNone/>
            </a:pPr>
            <a:r>
              <a:rPr lang="es-ES" sz="1500" b="1" dirty="0">
                <a:solidFill>
                  <a:srgbClr val="006EB7"/>
                </a:solidFill>
              </a:rPr>
              <a:t>P2 · Contadores coherentes — </a:t>
            </a:r>
            <a:r>
              <a:rPr lang="es-ES" sz="1400" dirty="0">
                <a:latin typeface="Consolas"/>
              </a:rPr>
              <a:t>commits &lt;= players, reveals &lt;= commits</a:t>
            </a:r>
          </a:p>
          <a:p>
            <a:pPr marL="228600" indent="0">
              <a:buNone/>
            </a:pPr>
            <a:r>
              <a:rPr lang="es-ES" sz="1300" dirty="0"/>
              <a:t>Detecta reveals fantasma y dobles commits aceptados por error.</a:t>
            </a:r>
          </a:p>
          <a:p>
            <a:pPr marL="0" indent="0">
              <a:buNone/>
            </a:pPr>
            <a:r>
              <a:rPr lang="es-ES" sz="1500" b="1" dirty="0">
                <a:solidFill>
                  <a:srgbClr val="006EB7"/>
                </a:solidFill>
              </a:rPr>
              <a:t>P3 · Commit requiere jugador — </a:t>
            </a:r>
            <a:r>
              <a:rPr lang="es-ES" sz="1400" dirty="0">
                <a:latin typeface="Consolas"/>
              </a:rPr>
              <a:t>commit_i → joined_i</a:t>
            </a:r>
          </a:p>
          <a:p>
            <a:pPr marL="228600" indent="0">
              <a:buNone/>
            </a:pPr>
            <a:r>
              <a:rPr lang="es-ES" sz="1300" dirty="0"/>
              <a:t>Detecta commits de identidades no registradas.</a:t>
            </a:r>
          </a:p>
          <a:p>
            <a:pPr marL="0" indent="0">
              <a:buNone/>
            </a:pPr>
            <a:r>
              <a:rPr lang="es-ES" sz="1500" b="1" dirty="0">
                <a:solidFill>
                  <a:srgbClr val="006EB7"/>
                </a:solidFill>
              </a:rPr>
              <a:t>P4 · Reveal requiere commit — </a:t>
            </a:r>
            <a:r>
              <a:rPr lang="es-ES" sz="1400" dirty="0">
                <a:latin typeface="Consolas"/>
              </a:rPr>
              <a:t>reveal_i → commit_i</a:t>
            </a:r>
          </a:p>
          <a:p>
            <a:pPr marL="228600" indent="0">
              <a:buNone/>
            </a:pPr>
            <a:r>
              <a:rPr lang="es-ES" sz="1300" dirty="0"/>
              <a:t>Cierra la puerta a revelar sin haber comprometido la jugada.</a:t>
            </a:r>
          </a:p>
          <a:p>
            <a:pPr marL="0" indent="0">
              <a:buNone/>
            </a:pPr>
            <a:r>
              <a:rPr lang="es-ES" sz="1500" b="1" dirty="0">
                <a:solidFill>
                  <a:srgbClr val="006EB7"/>
                </a:solidFill>
              </a:rPr>
              <a:t>P5 · Puntuación acotada — </a:t>
            </a:r>
            <a:r>
              <a:rPr lang="es-ES" sz="1400" dirty="0">
                <a:latin typeface="Consolas"/>
              </a:rPr>
              <a:t>score_i &lt;= TARGET_SCORE</a:t>
            </a:r>
          </a:p>
          <a:p>
            <a:pPr marL="228600" indent="0">
              <a:buNone/>
            </a:pPr>
            <a:r>
              <a:rPr lang="es-ES" sz="1300" dirty="0"/>
              <a:t>Detecta replays que duplicarían puntos tras snapshot o reinicio.</a:t>
            </a:r>
          </a:p>
        </p:txBody>
      </p:sp>
    </p:spTree>
    <p:extLst>
      <p:ext uri="{BB962C8B-B14F-4D97-AF65-F5344CB8AC3E}">
        <p14:creationId xmlns:p14="http://schemas.microsoft.com/office/powerpoint/2010/main" val="28037091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143815-01A3-D864-729A-242BF458E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s-ES" sz="2800" b="1" dirty="0">
                <a:solidFill>
                  <a:srgbClr val="006EB7"/>
                </a:solidFill>
              </a:rPr>
              <a:t>LTL: progreso y terminalidad (P6–P11)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1261C5F-A088-7919-C904-EBCD474E95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sz="1400" i="1" dirty="0">
                <a:solidFill>
                  <a:srgbClr val="677480"/>
                </a:solidFill>
              </a:rPr>
              <a:t>Objetivo: distinguir “nunca pasa esto” (safety) de “termina pasando aquello” (liveness).</a:t>
            </a:r>
          </a:p>
          <a:p>
            <a:pPr marL="0" indent="0">
              <a:buNone/>
            </a:pPr>
            <a:r>
              <a:rPr lang="es-ES" sz="1500" b="1" dirty="0">
                <a:solidFill>
                  <a:srgbClr val="006EB7"/>
                </a:solidFill>
              </a:rPr>
              <a:t>P6 · GAME_OVER terminal — </a:t>
            </a:r>
            <a:r>
              <a:rPr lang="es-ES" sz="1300" dirty="0">
                <a:latin typeface="Consolas"/>
              </a:rPr>
              <a:t>[] (s==GAME_OVER → [] s==GAME_OVER)</a:t>
            </a:r>
          </a:p>
          <a:p>
            <a:pPr marL="228600" indent="0">
              <a:buNone/>
            </a:pPr>
            <a:r>
              <a:rPr lang="es-ES" sz="1300" dirty="0"/>
              <a:t>Estado absorbente: cierra la posibilidad de “resucitar” la partida.</a:t>
            </a:r>
          </a:p>
          <a:p>
            <a:pPr marL="0" indent="0">
              <a:buNone/>
            </a:pPr>
            <a:r>
              <a:rPr lang="es-ES" sz="1500" b="1" dirty="0">
                <a:solidFill>
                  <a:srgbClr val="006EB7"/>
                </a:solidFill>
              </a:rPr>
              <a:t>P7 · GAME_OVER implica resultado — </a:t>
            </a:r>
            <a:r>
              <a:rPr lang="es-ES" sz="1300" dirty="0">
                <a:latin typeface="Consolas"/>
              </a:rPr>
              <a:t>winner_i || draw</a:t>
            </a:r>
          </a:p>
          <a:p>
            <a:pPr marL="228600" indent="0">
              <a:buNone/>
            </a:pPr>
            <a:r>
              <a:rPr lang="es-ES" sz="1300" dirty="0"/>
              <a:t>No se termina “en silencio”: siempre hay ganador o empate.</a:t>
            </a:r>
          </a:p>
          <a:p>
            <a:pPr marL="0" indent="0">
              <a:buNone/>
            </a:pPr>
            <a:r>
              <a:rPr lang="es-ES" sz="1500" b="1" dirty="0">
                <a:solidFill>
                  <a:srgbClr val="006EB7"/>
                </a:solidFill>
              </a:rPr>
              <a:t>P8 · Duplicados exactos no producen error — </a:t>
            </a:r>
            <a:r>
              <a:rPr lang="es-ES" sz="1300" dirty="0">
                <a:latin typeface="Consolas"/>
              </a:rPr>
              <a:t>[] (!error)</a:t>
            </a:r>
          </a:p>
          <a:p>
            <a:pPr marL="228600" indent="0">
              <a:buNone/>
            </a:pPr>
            <a:r>
              <a:rPr lang="es-ES" sz="1300" dirty="0"/>
              <a:t>Base de la idempotencia: replay y reintentos deben ser silenciosos.</a:t>
            </a:r>
          </a:p>
          <a:p>
            <a:pPr marL="0" indent="0">
              <a:buNone/>
            </a:pPr>
            <a:r>
              <a:rPr lang="es-ES" sz="1500" b="1" dirty="0">
                <a:solidFill>
                  <a:srgbClr val="006EB7"/>
                </a:solidFill>
              </a:rPr>
              <a:t>P9 / P10 · Progreso de fases — </a:t>
            </a:r>
            <a:r>
              <a:rPr lang="es-ES" sz="1300" dirty="0">
                <a:latin typeface="Consolas"/>
              </a:rPr>
              <a:t>all_commits → &lt;&gt; reveals ; all_reveals → &lt;&gt; finished</a:t>
            </a:r>
          </a:p>
          <a:p>
            <a:pPr marL="228600" indent="0">
              <a:buNone/>
            </a:pPr>
            <a:r>
              <a:rPr lang="es-ES" sz="1300" dirty="0"/>
              <a:t>El sistema no se queda colgado tras recibir todos los commits/reveals.</a:t>
            </a:r>
          </a:p>
          <a:p>
            <a:pPr marL="0" indent="0">
              <a:buNone/>
            </a:pPr>
            <a:r>
              <a:rPr lang="es-ES" sz="1500" b="1" dirty="0">
                <a:solidFill>
                  <a:srgbClr val="006EB7"/>
                </a:solidFill>
              </a:rPr>
              <a:t>P11 · Cierre — </a:t>
            </a:r>
            <a:r>
              <a:rPr lang="es-ES" sz="1300" dirty="0">
                <a:latin typeface="Consolas"/>
              </a:rPr>
              <a:t>has_winner → &lt;&gt; GAME_OVER</a:t>
            </a:r>
          </a:p>
          <a:p>
            <a:pPr marL="228600" indent="0">
              <a:buNone/>
            </a:pPr>
            <a:r>
              <a:rPr lang="es-ES" sz="1300" dirty="0"/>
              <a:t>Garantiza que el ganador no queda “en límbo” sin cerrar la partida.</a:t>
            </a:r>
          </a:p>
        </p:txBody>
      </p:sp>
    </p:spTree>
    <p:extLst>
      <p:ext uri="{BB962C8B-B14F-4D97-AF65-F5344CB8AC3E}">
        <p14:creationId xmlns:p14="http://schemas.microsoft.com/office/powerpoint/2010/main" val="22453882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2079BA-67B5-2723-4DC3-BE5E13644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s-ES" sz="2800" b="1" dirty="0">
                <a:solidFill>
                  <a:srgbClr val="006EB7"/>
                </a:solidFill>
              </a:rPr>
              <a:t>Promela mínimo y comando SPIN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7A990D-14B2-35B0-2249-9F7E4DC5A1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891211"/>
            <a:ext cx="8520600" cy="3416400"/>
          </a:xfrm>
        </p:spPr>
        <p:txBody>
          <a:bodyPr/>
          <a:lstStyle/>
          <a:p>
            <a:pPr marL="0" indent="0">
              <a:buNone/>
            </a:pPr>
            <a:r>
              <a:rPr lang="es-ES" sz="1300" i="1" dirty="0">
                <a:solidFill>
                  <a:srgbClr val="677480"/>
                </a:solidFill>
              </a:rPr>
              <a:t>Objetivo: ver cómo se codifica una propiedad LTL y se verifica con SPIN.</a:t>
            </a:r>
          </a:p>
          <a:p>
            <a:pPr marL="0" indent="0">
              <a:buNone/>
            </a:pPr>
            <a:r>
              <a:rPr lang="es-ES" sz="1300" b="1" dirty="0">
                <a:solidFill>
                  <a:schemeClr val="accent1"/>
                </a:solidFill>
              </a:rPr>
              <a:t>docs/ltl.pml (extracto)</a:t>
            </a:r>
          </a:p>
          <a:p>
            <a:pPr marL="0" indent="0">
              <a:buNone/>
            </a:pPr>
            <a:r>
              <a:rPr lang="es-ES" sz="1000" dirty="0">
                <a:latin typeface="Consolas"/>
              </a:rPr>
              <a:t>mtype = { WAITING_PLAYERS, CONFIGURING_GAME, ROUND_OPEN,</a:t>
            </a:r>
          </a:p>
          <a:p>
            <a:pPr marL="0" indent="0">
              <a:buNone/>
            </a:pPr>
            <a:r>
              <a:rPr lang="es-ES" sz="1000" dirty="0">
                <a:latin typeface="Consolas"/>
              </a:rPr>
              <a:t>          WAITING_COMMITS, WAITING_REVEALS, RESOLVING_ROUND,</a:t>
            </a:r>
          </a:p>
          <a:p>
            <a:pPr marL="0" indent="0">
              <a:buNone/>
            </a:pPr>
            <a:r>
              <a:rPr lang="es-ES" sz="1000" dirty="0">
                <a:latin typeface="Consolas"/>
              </a:rPr>
              <a:t>          ROUND_FINISHED, GAME_OVER };</a:t>
            </a:r>
          </a:p>
          <a:p>
            <a:pPr marL="0" indent="0">
              <a:buNone/>
            </a:pPr>
            <a:r>
              <a:rPr lang="es-ES" sz="1000" dirty="0">
                <a:latin typeface="Consolas"/>
              </a:rPr>
              <a:t> </a:t>
            </a:r>
          </a:p>
          <a:p>
            <a:pPr marL="0" indent="0">
              <a:buNone/>
            </a:pPr>
            <a:r>
              <a:rPr lang="es-ES" sz="1000" dirty="0">
                <a:latin typeface="Consolas"/>
              </a:rPr>
              <a:t>#define all_committed (commit0 &amp;&amp; commit1)</a:t>
            </a:r>
          </a:p>
          <a:p>
            <a:pPr marL="0" indent="0">
              <a:buNone/>
            </a:pPr>
            <a:r>
              <a:rPr lang="es-ES" sz="1000" dirty="0">
                <a:latin typeface="Consolas"/>
              </a:rPr>
              <a:t>#define all_revealed  ((!commit0 || reveal0) &amp;&amp; (!commit1 || reveal1))</a:t>
            </a:r>
          </a:p>
          <a:p>
            <a:pPr marL="0" indent="0">
              <a:buNone/>
            </a:pPr>
            <a:r>
              <a:rPr lang="es-ES" sz="1000" dirty="0">
                <a:latin typeface="Consolas"/>
              </a:rPr>
              <a:t> </a:t>
            </a:r>
          </a:p>
          <a:p>
            <a:pPr marL="0" indent="0">
              <a:buNone/>
            </a:pPr>
            <a:r>
              <a:rPr lang="es-ES" sz="1000" dirty="0">
                <a:latin typeface="Consolas"/>
              </a:rPr>
              <a:t>ltl p_reveal_requires_commit {</a:t>
            </a:r>
          </a:p>
          <a:p>
            <a:pPr marL="0" indent="0">
              <a:buNone/>
            </a:pPr>
            <a:r>
              <a:rPr lang="es-ES" sz="1000" dirty="0">
                <a:latin typeface="Consolas"/>
              </a:rPr>
              <a:t>    [] ((!reveal0 || commit0) &amp;&amp; (!reveal1 || commit1))</a:t>
            </a:r>
          </a:p>
          <a:p>
            <a:pPr marL="0" indent="0">
              <a:buNone/>
            </a:pPr>
            <a:r>
              <a:rPr lang="es-ES" sz="1000" dirty="0">
                <a:latin typeface="Consolas"/>
              </a:rPr>
              <a:t>}</a:t>
            </a:r>
          </a:p>
          <a:p>
            <a:pPr marL="0" indent="0">
              <a:buNone/>
            </a:pPr>
            <a:r>
              <a:rPr lang="es-ES" sz="1300" b="1" dirty="0">
                <a:solidFill>
                  <a:schemeClr val="accent1"/>
                </a:solidFill>
              </a:rPr>
              <a:t>Verificación con SPIN</a:t>
            </a:r>
          </a:p>
          <a:p>
            <a:pPr marL="0" indent="0">
              <a:buNone/>
            </a:pPr>
            <a:r>
              <a:rPr lang="es-ES" sz="1100" dirty="0">
                <a:latin typeface="Consolas"/>
              </a:rPr>
              <a:t>$ spin -a docs/ltl.pml</a:t>
            </a:r>
          </a:p>
          <a:p>
            <a:pPr marL="0" indent="0">
              <a:buNone/>
            </a:pPr>
            <a:r>
              <a:rPr lang="es-ES" sz="1100" dirty="0">
                <a:latin typeface="Consolas"/>
              </a:rPr>
              <a:t>$ cc -o pan pan.c</a:t>
            </a:r>
          </a:p>
          <a:p>
            <a:pPr marL="0" indent="0">
              <a:buNone/>
            </a:pPr>
            <a:r>
              <a:rPr lang="es-ES" sz="1100" dirty="0">
                <a:latin typeface="Consolas"/>
              </a:rPr>
              <a:t>$ ./pan -a -N p_reveal_requires_commit</a:t>
            </a:r>
          </a:p>
        </p:txBody>
      </p:sp>
    </p:spTree>
    <p:extLst>
      <p:ext uri="{BB962C8B-B14F-4D97-AF65-F5344CB8AC3E}">
        <p14:creationId xmlns:p14="http://schemas.microsoft.com/office/powerpoint/2010/main" val="3263086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1F3E50-FCCD-A375-26FC-25C46FA85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s-ES" sz="2800" b="1" dirty="0">
                <a:solidFill>
                  <a:srgbClr val="006EB7"/>
                </a:solidFill>
              </a:rPr>
              <a:t>Estados de la FSM</a:t>
            </a:r>
          </a:p>
        </p:txBody>
      </p:sp>
      <p:sp>
        <p:nvSpPr>
          <p:cNvPr id="3" name="Rectángulo redondeado 2">
            <a:extLst>
              <a:ext uri="{FF2B5EF4-FFF2-40B4-BE49-F238E27FC236}">
                <a16:creationId xmlns:a16="http://schemas.microsoft.com/office/drawing/2014/main" id="{60563CA2-CAD0-594E-9430-9254465F848D}"/>
              </a:ext>
            </a:extLst>
          </p:cNvPr>
          <p:cNvSpPr/>
          <p:nvPr/>
        </p:nvSpPr>
        <p:spPr>
          <a:xfrm>
            <a:off x="355600" y="1651000"/>
            <a:ext cx="2006600" cy="762000"/>
          </a:xfrm>
          <a:prstGeom prst="roundRect">
            <a:avLst/>
          </a:prstGeom>
          <a:solidFill>
            <a:srgbClr val="006EB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s-ES" sz="1200" b="1">
                <a:solidFill>
                  <a:srgbClr val="FFFFFF"/>
                </a:solidFill>
              </a:rPr>
              <a:t>WAITING_PLAYERS</a:t>
            </a:r>
          </a:p>
        </p:txBody>
      </p:sp>
      <p:sp>
        <p:nvSpPr>
          <p:cNvPr id="4" name="Rectángulo redondeado 3">
            <a:extLst>
              <a:ext uri="{FF2B5EF4-FFF2-40B4-BE49-F238E27FC236}">
                <a16:creationId xmlns:a16="http://schemas.microsoft.com/office/drawing/2014/main" id="{3519F208-3F8A-B84B-87A9-DE5DD9D53D2D}"/>
              </a:ext>
            </a:extLst>
          </p:cNvPr>
          <p:cNvSpPr/>
          <p:nvPr/>
        </p:nvSpPr>
        <p:spPr>
          <a:xfrm>
            <a:off x="2463800" y="1651000"/>
            <a:ext cx="2006600" cy="762000"/>
          </a:xfrm>
          <a:prstGeom prst="roundRect">
            <a:avLst/>
          </a:prstGeom>
          <a:solidFill>
            <a:srgbClr val="006EB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s-ES" sz="1200" b="1">
                <a:solidFill>
                  <a:srgbClr val="FFFFFF"/>
                </a:solidFill>
              </a:rPr>
              <a:t>CONFIGURING_GAME</a:t>
            </a:r>
          </a:p>
        </p:txBody>
      </p:sp>
      <p:sp>
        <p:nvSpPr>
          <p:cNvPr id="5" name="Rectángulo redondeado 4">
            <a:extLst>
              <a:ext uri="{FF2B5EF4-FFF2-40B4-BE49-F238E27FC236}">
                <a16:creationId xmlns:a16="http://schemas.microsoft.com/office/drawing/2014/main" id="{A6266B44-717E-824E-910B-41EEEA215785}"/>
              </a:ext>
            </a:extLst>
          </p:cNvPr>
          <p:cNvSpPr/>
          <p:nvPr/>
        </p:nvSpPr>
        <p:spPr>
          <a:xfrm>
            <a:off x="4572000" y="1651000"/>
            <a:ext cx="2006600" cy="762000"/>
          </a:xfrm>
          <a:prstGeom prst="roundRect">
            <a:avLst/>
          </a:prstGeom>
          <a:solidFill>
            <a:srgbClr val="006EB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s-ES" sz="1200" b="1">
                <a:solidFill>
                  <a:srgbClr val="FFFFFF"/>
                </a:solidFill>
              </a:rPr>
              <a:t>ROUND_OPEN</a:t>
            </a:r>
          </a:p>
        </p:txBody>
      </p:sp>
      <p:sp>
        <p:nvSpPr>
          <p:cNvPr id="6" name="Rectángulo redondeado 5">
            <a:extLst>
              <a:ext uri="{FF2B5EF4-FFF2-40B4-BE49-F238E27FC236}">
                <a16:creationId xmlns:a16="http://schemas.microsoft.com/office/drawing/2014/main" id="{65091FA7-DFDB-1746-A20E-8936D7F10100}"/>
              </a:ext>
            </a:extLst>
          </p:cNvPr>
          <p:cNvSpPr/>
          <p:nvPr/>
        </p:nvSpPr>
        <p:spPr>
          <a:xfrm>
            <a:off x="6680200" y="1651000"/>
            <a:ext cx="2006600" cy="762000"/>
          </a:xfrm>
          <a:prstGeom prst="roundRect">
            <a:avLst/>
          </a:prstGeom>
          <a:solidFill>
            <a:srgbClr val="00ACE9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s-ES" sz="1200" b="1">
                <a:solidFill>
                  <a:srgbClr val="0F1C82"/>
                </a:solidFill>
              </a:rPr>
              <a:t>WAITING_COMMITS</a:t>
            </a:r>
          </a:p>
        </p:txBody>
      </p:sp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59C0A9C5-55E5-4A40-BA64-F57426D33C70}"/>
              </a:ext>
            </a:extLst>
          </p:cNvPr>
          <p:cNvSpPr/>
          <p:nvPr/>
        </p:nvSpPr>
        <p:spPr>
          <a:xfrm>
            <a:off x="355600" y="2921000"/>
            <a:ext cx="2006600" cy="762000"/>
          </a:xfrm>
          <a:prstGeom prst="roundRect">
            <a:avLst/>
          </a:prstGeom>
          <a:solidFill>
            <a:srgbClr val="00ACE9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s-ES" sz="1200" b="1">
                <a:solidFill>
                  <a:srgbClr val="0F1C82"/>
                </a:solidFill>
              </a:rPr>
              <a:t>WAITING_REVEALS</a:t>
            </a:r>
          </a:p>
        </p:txBody>
      </p:sp>
      <p:sp>
        <p:nvSpPr>
          <p:cNvPr id="8" name="Rectángulo redondeado 7">
            <a:extLst>
              <a:ext uri="{FF2B5EF4-FFF2-40B4-BE49-F238E27FC236}">
                <a16:creationId xmlns:a16="http://schemas.microsoft.com/office/drawing/2014/main" id="{1DD22548-2015-474F-8E8E-9A5ACA72F5AE}"/>
              </a:ext>
            </a:extLst>
          </p:cNvPr>
          <p:cNvSpPr/>
          <p:nvPr/>
        </p:nvSpPr>
        <p:spPr>
          <a:xfrm>
            <a:off x="2463800" y="2921000"/>
            <a:ext cx="2006600" cy="762000"/>
          </a:xfrm>
          <a:prstGeom prst="roundRect">
            <a:avLst/>
          </a:prstGeom>
          <a:solidFill>
            <a:srgbClr val="AE9B6D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s-ES" sz="1200" b="1">
                <a:solidFill>
                  <a:srgbClr val="0F1C82"/>
                </a:solidFill>
              </a:rPr>
              <a:t>RESOLVING_ROUND</a:t>
            </a:r>
          </a:p>
        </p:txBody>
      </p:sp>
      <p:sp>
        <p:nvSpPr>
          <p:cNvPr id="9" name="Rectángulo redondeado 8">
            <a:extLst>
              <a:ext uri="{FF2B5EF4-FFF2-40B4-BE49-F238E27FC236}">
                <a16:creationId xmlns:a16="http://schemas.microsoft.com/office/drawing/2014/main" id="{511F0954-D7B4-E340-B97F-ADFDAD836384}"/>
              </a:ext>
            </a:extLst>
          </p:cNvPr>
          <p:cNvSpPr/>
          <p:nvPr/>
        </p:nvSpPr>
        <p:spPr>
          <a:xfrm>
            <a:off x="4572000" y="2921000"/>
            <a:ext cx="2006600" cy="762000"/>
          </a:xfrm>
          <a:prstGeom prst="roundRect">
            <a:avLst/>
          </a:prstGeom>
          <a:solidFill>
            <a:srgbClr val="AE9B6D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s-ES" sz="1200" b="1">
                <a:solidFill>
                  <a:srgbClr val="0F1C82"/>
                </a:solidFill>
              </a:rPr>
              <a:t>ROUND_FINISHED</a:t>
            </a:r>
          </a:p>
        </p:txBody>
      </p:sp>
      <p:sp>
        <p:nvSpPr>
          <p:cNvPr id="10" name="Rectángulo redondeado 9">
            <a:extLst>
              <a:ext uri="{FF2B5EF4-FFF2-40B4-BE49-F238E27FC236}">
                <a16:creationId xmlns:a16="http://schemas.microsoft.com/office/drawing/2014/main" id="{68E0F3BB-9125-1A40-8676-B0AD80BDD658}"/>
              </a:ext>
            </a:extLst>
          </p:cNvPr>
          <p:cNvSpPr/>
          <p:nvPr/>
        </p:nvSpPr>
        <p:spPr>
          <a:xfrm>
            <a:off x="6680200" y="2921000"/>
            <a:ext cx="2006600" cy="762000"/>
          </a:xfrm>
          <a:prstGeom prst="roundRect">
            <a:avLst/>
          </a:prstGeom>
          <a:solidFill>
            <a:srgbClr val="E61931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s-ES" sz="1200" b="1">
                <a:solidFill>
                  <a:srgbClr val="FFFFFF"/>
                </a:solidFill>
              </a:rPr>
              <a:t>GAME_OVER</a:t>
            </a:r>
          </a:p>
        </p:txBody>
      </p:sp>
      <p:sp>
        <p:nvSpPr>
          <p:cNvPr id="11" name="Flecha derecha 10">
            <a:extLst>
              <a:ext uri="{FF2B5EF4-FFF2-40B4-BE49-F238E27FC236}">
                <a16:creationId xmlns:a16="http://schemas.microsoft.com/office/drawing/2014/main" id="{6ACEC921-1E9A-CF4B-A8AE-4CC369A8131F}"/>
              </a:ext>
            </a:extLst>
          </p:cNvPr>
          <p:cNvSpPr/>
          <p:nvPr/>
        </p:nvSpPr>
        <p:spPr>
          <a:xfrm>
            <a:off x="2349500" y="1968500"/>
            <a:ext cx="127000" cy="127000"/>
          </a:xfrm>
          <a:prstGeom prst="rightArrow">
            <a:avLst/>
          </a:prstGeom>
          <a:solidFill>
            <a:srgbClr val="67748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12" name="Flecha derecha 11">
            <a:extLst>
              <a:ext uri="{FF2B5EF4-FFF2-40B4-BE49-F238E27FC236}">
                <a16:creationId xmlns:a16="http://schemas.microsoft.com/office/drawing/2014/main" id="{6A8456FA-4D8B-9A42-885D-0CE2476E5FE6}"/>
              </a:ext>
            </a:extLst>
          </p:cNvPr>
          <p:cNvSpPr/>
          <p:nvPr/>
        </p:nvSpPr>
        <p:spPr>
          <a:xfrm>
            <a:off x="4457700" y="1968500"/>
            <a:ext cx="127000" cy="127000"/>
          </a:xfrm>
          <a:prstGeom prst="rightArrow">
            <a:avLst/>
          </a:prstGeom>
          <a:solidFill>
            <a:srgbClr val="67748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13" name="Flecha derecha 12">
            <a:extLst>
              <a:ext uri="{FF2B5EF4-FFF2-40B4-BE49-F238E27FC236}">
                <a16:creationId xmlns:a16="http://schemas.microsoft.com/office/drawing/2014/main" id="{5CC8DB26-EDF5-144A-93DB-78CA3B44F785}"/>
              </a:ext>
            </a:extLst>
          </p:cNvPr>
          <p:cNvSpPr/>
          <p:nvPr/>
        </p:nvSpPr>
        <p:spPr>
          <a:xfrm>
            <a:off x="6565900" y="1968500"/>
            <a:ext cx="127000" cy="127000"/>
          </a:xfrm>
          <a:prstGeom prst="rightArrow">
            <a:avLst/>
          </a:prstGeom>
          <a:solidFill>
            <a:srgbClr val="67748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14" name="Flecha derecha 13">
            <a:extLst>
              <a:ext uri="{FF2B5EF4-FFF2-40B4-BE49-F238E27FC236}">
                <a16:creationId xmlns:a16="http://schemas.microsoft.com/office/drawing/2014/main" id="{24D44A03-CD56-3B47-8162-0D1818D9F700}"/>
              </a:ext>
            </a:extLst>
          </p:cNvPr>
          <p:cNvSpPr/>
          <p:nvPr/>
        </p:nvSpPr>
        <p:spPr>
          <a:xfrm>
            <a:off x="2349500" y="3238500"/>
            <a:ext cx="127000" cy="127000"/>
          </a:xfrm>
          <a:prstGeom prst="rightArrow">
            <a:avLst/>
          </a:prstGeom>
          <a:solidFill>
            <a:srgbClr val="67748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15" name="Flecha derecha 14">
            <a:extLst>
              <a:ext uri="{FF2B5EF4-FFF2-40B4-BE49-F238E27FC236}">
                <a16:creationId xmlns:a16="http://schemas.microsoft.com/office/drawing/2014/main" id="{1EEFCB95-1054-1F4F-96C7-29751D8BB6CC}"/>
              </a:ext>
            </a:extLst>
          </p:cNvPr>
          <p:cNvSpPr/>
          <p:nvPr/>
        </p:nvSpPr>
        <p:spPr>
          <a:xfrm>
            <a:off x="4457700" y="3238500"/>
            <a:ext cx="127000" cy="127000"/>
          </a:xfrm>
          <a:prstGeom prst="rightArrow">
            <a:avLst/>
          </a:prstGeom>
          <a:solidFill>
            <a:srgbClr val="67748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16" name="Flecha derecha 15">
            <a:extLst>
              <a:ext uri="{FF2B5EF4-FFF2-40B4-BE49-F238E27FC236}">
                <a16:creationId xmlns:a16="http://schemas.microsoft.com/office/drawing/2014/main" id="{9F4DBADB-0C87-CB4A-882D-376E453A4D18}"/>
              </a:ext>
            </a:extLst>
          </p:cNvPr>
          <p:cNvSpPr/>
          <p:nvPr/>
        </p:nvSpPr>
        <p:spPr>
          <a:xfrm>
            <a:off x="6565900" y="3238500"/>
            <a:ext cx="127000" cy="127000"/>
          </a:xfrm>
          <a:prstGeom prst="rightArrow">
            <a:avLst/>
          </a:prstGeom>
          <a:solidFill>
            <a:srgbClr val="67748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3787BB22-3B6B-F342-ABB3-6550725375C4}"/>
              </a:ext>
            </a:extLst>
          </p:cNvPr>
          <p:cNvSpPr txBox="1"/>
          <p:nvPr/>
        </p:nvSpPr>
        <p:spPr>
          <a:xfrm>
            <a:off x="7518400" y="2463800"/>
            <a:ext cx="127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100" i="1">
                <a:solidFill>
                  <a:srgbClr val="677480"/>
                </a:solidFill>
              </a:rPr>
              <a:t>(continúa abajo)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EBEC7C5E-C495-E944-B8D3-DEAD0A4161FF}"/>
              </a:ext>
            </a:extLst>
          </p:cNvPr>
          <p:cNvSpPr txBox="1"/>
          <p:nvPr/>
        </p:nvSpPr>
        <p:spPr>
          <a:xfrm>
            <a:off x="6680200" y="3733800"/>
            <a:ext cx="20066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100" b="1">
                <a:solidFill>
                  <a:srgbClr val="E61931"/>
                </a:solidFill>
              </a:rPr>
              <a:t>↺ absorbente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0148722D-3D08-1043-9325-5A5D25442D1C}"/>
              </a:ext>
            </a:extLst>
          </p:cNvPr>
          <p:cNvSpPr txBox="1"/>
          <p:nvPr/>
        </p:nvSpPr>
        <p:spPr>
          <a:xfrm>
            <a:off x="317500" y="4445000"/>
            <a:ext cx="85217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200" i="1">
                <a:solidFill>
                  <a:srgbClr val="677480"/>
                </a:solidFill>
              </a:rPr>
              <a:t>Color: alta (azul) · espera (cian) · resolución (dorado) · terminal (rojo)</a:t>
            </a:r>
          </a:p>
        </p:txBody>
      </p:sp>
    </p:spTree>
    <p:extLst>
      <p:ext uri="{BB962C8B-B14F-4D97-AF65-F5344CB8AC3E}">
        <p14:creationId xmlns:p14="http://schemas.microsoft.com/office/powerpoint/2010/main" val="25435314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31539B-73C7-3BD9-C88A-612C3582D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s-ES" sz="2800" b="1" dirty="0">
                <a:solidFill>
                  <a:srgbClr val="006EB7"/>
                </a:solidFill>
              </a:rPr>
              <a:t>Transiciones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6C3F6F7-346C-4446-F443-E41189CF79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868687"/>
            <a:ext cx="8520600" cy="3416400"/>
          </a:xfrm>
        </p:spPr>
        <p:txBody>
          <a:bodyPr/>
          <a:lstStyle/>
          <a:p>
            <a:pPr marL="0" indent="0">
              <a:buNone/>
            </a:pPr>
            <a:r>
              <a:rPr lang="es-ES" sz="1400" i="1" dirty="0">
                <a:solidFill>
                  <a:srgbClr val="677480"/>
                </a:solidFill>
              </a:rPr>
              <a:t>Notación: </a:t>
            </a:r>
            <a:r>
              <a:rPr lang="es-ES" sz="1400" dirty="0">
                <a:latin typeface="Consolas"/>
              </a:rPr>
              <a:t>ESTADO — evento [guarda] / acción → ESTADO</a:t>
            </a:r>
          </a:p>
          <a:p>
            <a:pPr marL="0" indent="0">
              <a:buNone/>
            </a:pPr>
            <a:r>
              <a:rPr lang="es-ES" sz="900" dirty="0">
                <a:latin typeface="Consolas"/>
              </a:rPr>
              <a:t>WAITING_PLAYERS  — player_joined(p)   [p nuevo]           / add_player(p)         → WAITING_PLAYERS</a:t>
            </a:r>
          </a:p>
          <a:p>
            <a:pPr marL="0" indent="0">
              <a:buNone/>
            </a:pPr>
            <a:r>
              <a:rPr lang="es-ES" sz="900" dirty="0">
                <a:latin typeface="Consolas"/>
              </a:rPr>
              <a:t>WAITING_PLAYERS  — player_joined(p)   [p ya existe]       / no-op                 → WAITING_PLAYERS</a:t>
            </a:r>
          </a:p>
          <a:p>
            <a:pPr marL="0" indent="0">
              <a:buNone/>
            </a:pPr>
            <a:r>
              <a:rPr lang="es-ES" sz="900" dirty="0">
                <a:latin typeface="Consolas"/>
              </a:rPr>
              <a:t>WAITING_PLAYERS  — confirm_players    [players &gt;= 2]      / init_scores           → CONFIGURING_GAME</a:t>
            </a:r>
          </a:p>
          <a:p>
            <a:pPr marL="0" indent="0">
              <a:buNone/>
            </a:pPr>
            <a:r>
              <a:rPr lang="es-ES" sz="900" dirty="0">
                <a:latin typeface="Consolas"/>
              </a:rPr>
              <a:t>CONFIGURING_GAME — configure(c)       [c valida]          / set_config            → ROUND_OPEN</a:t>
            </a:r>
          </a:p>
          <a:p>
            <a:pPr marL="0" indent="0">
              <a:buNone/>
            </a:pPr>
            <a:r>
              <a:rPr lang="es-ES" sz="900" dirty="0">
                <a:latin typeface="Consolas"/>
              </a:rPr>
              <a:t>ROUND_OPEN       — start_round                            / clear_round, deadline → WAITING_COMMITS</a:t>
            </a:r>
          </a:p>
          <a:p>
            <a:pPr marL="0" indent="0">
              <a:buNone/>
            </a:pPr>
            <a:r>
              <a:rPr lang="es-ES" sz="900" dirty="0">
                <a:latin typeface="Consolas"/>
              </a:rPr>
              <a:t>WAITING_COMMITS  — commit_move(p,h)   [sin commit previo] / commits[p]=h          → WAITING_COMMITS</a:t>
            </a:r>
          </a:p>
          <a:p>
            <a:pPr marL="0" indent="0">
              <a:buNone/>
            </a:pPr>
            <a:r>
              <a:rPr lang="es-ES" sz="900" dirty="0">
                <a:latin typeface="Consolas"/>
              </a:rPr>
              <a:t>WAITING_COMMITS  — commit_move(p,h)   [commits[p]==h]     / no-op                 → WAITING_COMMITS</a:t>
            </a:r>
          </a:p>
          <a:p>
            <a:pPr marL="0" indent="0">
              <a:buNone/>
            </a:pPr>
            <a:r>
              <a:rPr lang="es-ES" sz="900" dirty="0">
                <a:latin typeface="Consolas"/>
              </a:rPr>
              <a:t>WAITING_COMMITS  — commit_move(p,h2)  [commits[p]!=h2]    / error(conflicting)    → WAITING_COMMITS</a:t>
            </a:r>
          </a:p>
          <a:p>
            <a:pPr marL="0" indent="0">
              <a:buNone/>
            </a:pPr>
            <a:r>
              <a:rPr lang="es-ES" sz="900" dirty="0">
                <a:latin typeface="Consolas"/>
              </a:rPr>
              <a:t>WAITING_COMMITS  — all_commits_recv                       / set_reveal_deadline   → WAITING_REVEALS</a:t>
            </a:r>
          </a:p>
          <a:p>
            <a:pPr marL="0" indent="0">
              <a:buNone/>
            </a:pPr>
            <a:r>
              <a:rPr lang="es-ES" sz="900" dirty="0">
                <a:latin typeface="Consolas"/>
              </a:rPr>
              <a:t>WAITING_REVEALS  — reveal_move(p,m,n) [hash ok, primero]  / reveals[p]=m          → WAITING_REVEALS</a:t>
            </a:r>
          </a:p>
          <a:p>
            <a:pPr marL="0" indent="0">
              <a:buNone/>
            </a:pPr>
            <a:r>
              <a:rPr lang="es-ES" sz="900" dirty="0">
                <a:latin typeface="Consolas"/>
              </a:rPr>
              <a:t>WAITING_REVEALS  — reveal_move(p,m,n) [hash invalido]     / error(invalid reveal) → WAITING_REVEALS</a:t>
            </a:r>
          </a:p>
          <a:p>
            <a:pPr marL="0" indent="0">
              <a:buNone/>
            </a:pPr>
            <a:r>
              <a:rPr lang="es-ES" sz="900" dirty="0">
                <a:latin typeface="Consolas"/>
              </a:rPr>
              <a:t>WAITING_REVEALS  — all_reveals_recv                       / no-op                 → RESOLVING_ROUND</a:t>
            </a:r>
          </a:p>
          <a:p>
            <a:pPr marL="0" indent="0">
              <a:buNone/>
            </a:pPr>
            <a:r>
              <a:rPr lang="es-ES" sz="900" dirty="0">
                <a:latin typeface="Consolas"/>
              </a:rPr>
              <a:t>RESOLVING_ROUND  — result_committed                       / resolve, update_score → ROUND_FINISHED</a:t>
            </a:r>
          </a:p>
          <a:p>
            <a:pPr marL="0" indent="0">
              <a:buNone/>
            </a:pPr>
            <a:r>
              <a:rPr lang="es-ES" sz="900" dirty="0">
                <a:latin typeface="Consolas"/>
              </a:rPr>
              <a:t>ROUND_FINISHED   — winner_exists                          / no-op                 → GAME_OVER</a:t>
            </a:r>
          </a:p>
          <a:p>
            <a:pPr marL="0" indent="0">
              <a:buNone/>
            </a:pPr>
            <a:r>
              <a:rPr lang="es-ES" sz="900" dirty="0">
                <a:latin typeface="Consolas"/>
              </a:rPr>
              <a:t>ROUND_FINISHED   — next_round_needed                      / clear_round           → ROUND_OPEN</a:t>
            </a:r>
          </a:p>
          <a:p>
            <a:pPr marL="0" indent="0">
              <a:buNone/>
            </a:pPr>
            <a:r>
              <a:rPr lang="es-ES" sz="900" dirty="0">
                <a:latin typeface="Consolas"/>
              </a:rPr>
              <a:t>GAME_OVER        — any                                    / no-op                 → GAME_OVER</a:t>
            </a:r>
          </a:p>
          <a:p>
            <a:pPr marL="0" indent="0" algn="ctr">
              <a:buNone/>
            </a:pPr>
            <a:r>
              <a:rPr lang="es-ES" sz="1100" b="1" i="1" dirty="0">
                <a:solidFill>
                  <a:srgbClr val="E61931"/>
                </a:solidFill>
              </a:rPr>
              <a:t>Duplicado exacto = no-op. Conflicto = error. Nunca confundirlos.</a:t>
            </a:r>
          </a:p>
        </p:txBody>
      </p:sp>
    </p:spTree>
    <p:extLst>
      <p:ext uri="{BB962C8B-B14F-4D97-AF65-F5344CB8AC3E}">
        <p14:creationId xmlns:p14="http://schemas.microsoft.com/office/powerpoint/2010/main" val="36889080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4C7077-A5F8-6B4E-7B7E-A3E244C4F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s-ES" sz="2800" b="1" dirty="0">
                <a:solidFill>
                  <a:srgbClr val="006EB7"/>
                </a:solidFill>
              </a:rPr>
              <a:t>Idempotencia en el modelo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F688FA4-DBDC-AA09-D7D8-BB098BAA42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sz="1400" i="1" dirty="0">
                <a:solidFill>
                  <a:srgbClr val="677480"/>
                </a:solidFill>
              </a:rPr>
              <a:t>Objetivo: separar duplicado exacto (no-op) de conflicto (error).</a:t>
            </a:r>
          </a:p>
          <a:p>
            <a:pPr marL="0" indent="0">
              <a:buNone/>
            </a:pPr>
            <a:r>
              <a:rPr lang="es-ES" sz="1500" b="1" dirty="0">
                <a:solidFill>
                  <a:srgbClr val="006EB7"/>
                </a:solidFill>
              </a:rPr>
              <a:t>Duplicado exacto → no-op</a:t>
            </a:r>
          </a:p>
          <a:p>
            <a:pPr marL="0" indent="0">
              <a:buNone/>
            </a:pPr>
            <a:r>
              <a:rPr lang="es-ES" sz="1200" dirty="0">
                <a:latin typeface="Consolas"/>
              </a:rPr>
              <a:t>commit_move(alice, hashA)   → aceptado</a:t>
            </a:r>
          </a:p>
          <a:p>
            <a:pPr marL="0" indent="0">
              <a:buNone/>
            </a:pPr>
            <a:r>
              <a:rPr lang="es-ES" sz="1200" dirty="0">
                <a:latin typeface="Consolas"/>
              </a:rPr>
              <a:t>commit_move(alice, hashA)   → no-op, sin error</a:t>
            </a:r>
          </a:p>
          <a:p>
            <a:pPr marL="0" indent="0">
              <a:buNone/>
            </a:pPr>
            <a:r>
              <a:rPr lang="es-ES" sz="1500" b="1" dirty="0">
                <a:solidFill>
                  <a:srgbClr val="E61931"/>
                </a:solidFill>
              </a:rPr>
              <a:t>Conflicto → error</a:t>
            </a:r>
          </a:p>
          <a:p>
            <a:pPr marL="0" indent="0">
              <a:buNone/>
            </a:pPr>
            <a:r>
              <a:rPr lang="es-ES" sz="1200" dirty="0">
                <a:latin typeface="Consolas"/>
              </a:rPr>
              <a:t>commit_move(alice, hashA)   → aceptado</a:t>
            </a:r>
          </a:p>
          <a:p>
            <a:pPr marL="0" indent="0">
              <a:buNone/>
            </a:pPr>
            <a:r>
              <a:rPr lang="es-ES" sz="1200" dirty="0">
                <a:latin typeface="Consolas"/>
              </a:rPr>
              <a:t>commit_move(alice, hashB)   → error(conflicting commit)</a:t>
            </a:r>
          </a:p>
          <a:p>
            <a:pPr marL="0" indent="0">
              <a:buNone/>
            </a:pPr>
            <a:r>
              <a:rPr lang="es-ES" sz="1400" b="1" dirty="0">
                <a:solidFill>
                  <a:schemeClr val="accent1"/>
                </a:solidFill>
              </a:rPr>
              <a:t>Esto cubre cuatro fuentes de repetición:</a:t>
            </a:r>
          </a:p>
          <a:p>
            <a:pPr marL="228600" indent="-228600">
              <a:buFont typeface="Arial"/>
              <a:buChar char="•"/>
            </a:pPr>
            <a:r>
              <a:rPr lang="es-ES" sz="1400" dirty="0"/>
              <a:t>Transporte que duplica mensajes.</a:t>
            </a:r>
          </a:p>
          <a:p>
            <a:pPr marL="228600" indent="-228600">
              <a:buFont typeface="Arial"/>
              <a:buChar char="•"/>
            </a:pPr>
            <a:r>
              <a:rPr lang="es-ES" sz="1400" dirty="0"/>
              <a:t>Reintentos de cliente.</a:t>
            </a:r>
          </a:p>
          <a:p>
            <a:pPr marL="228600" indent="-228600">
              <a:buFont typeface="Arial"/>
              <a:buChar char="•"/>
            </a:pPr>
            <a:r>
              <a:rPr lang="es-ES" sz="1400" dirty="0"/>
              <a:t>Replay del log tras reinicio.</a:t>
            </a:r>
          </a:p>
          <a:p>
            <a:pPr marL="228600" indent="-228600">
              <a:buFont typeface="Arial"/>
              <a:buChar char="•"/>
            </a:pPr>
            <a:r>
              <a:rPr lang="es-ES" sz="1400" dirty="0"/>
              <a:t>Restore desde snapshot + sufijo del log.</a:t>
            </a:r>
          </a:p>
        </p:txBody>
      </p:sp>
    </p:spTree>
    <p:extLst>
      <p:ext uri="{BB962C8B-B14F-4D97-AF65-F5344CB8AC3E}">
        <p14:creationId xmlns:p14="http://schemas.microsoft.com/office/powerpoint/2010/main" val="14651550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172DFD-A479-0726-3654-FD22A5259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s-ES" sz="2800" b="1" dirty="0">
                <a:solidFill>
                  <a:srgbClr val="006EB7"/>
                </a:solidFill>
              </a:rPr>
              <a:t>Commit-reveal: ocultar la jugada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7B64C7A-5944-CAF6-EF2A-3B1790D42A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sz="1400" i="1" dirty="0">
                <a:solidFill>
                  <a:srgbClr val="677480"/>
                </a:solidFill>
              </a:rPr>
              <a:t>Objetivo: garantizar que nadie cambia su jugada al ver la del otro.</a:t>
            </a:r>
          </a:p>
          <a:p>
            <a:pPr marL="0" indent="0">
              <a:buNone/>
            </a:pPr>
            <a:r>
              <a:rPr lang="es-ES" sz="1400" b="1" dirty="0">
                <a:solidFill>
                  <a:srgbClr val="0F1C82"/>
                </a:solidFill>
              </a:rPr>
              <a:t>Definición del commit</a:t>
            </a:r>
          </a:p>
          <a:p>
            <a:pPr marL="0" indent="0">
              <a:buNone/>
            </a:pPr>
            <a:r>
              <a:rPr lang="es-ES" sz="1300" dirty="0">
                <a:latin typeface="Consolas"/>
              </a:rPr>
              <a:t>commit_hash = SHA256(player_id ":" move ":" nonce)</a:t>
            </a:r>
          </a:p>
          <a:p>
            <a:pPr marL="0" indent="0">
              <a:buNone/>
            </a:pPr>
            <a:r>
              <a:rPr lang="es-ES" sz="1300" dirty="0">
                <a:latin typeface="Consolas"/>
              </a:rPr>
              <a:t>ejemplo:  alice:0:nonce-a   (0 = ROCK, 1 = PAPER, 2 = SCISSORS)</a:t>
            </a:r>
          </a:p>
          <a:p>
            <a:pPr marL="0" indent="0">
              <a:buNone/>
            </a:pPr>
            <a:r>
              <a:rPr lang="es-ES" sz="1400" b="1" dirty="0">
                <a:solidFill>
                  <a:srgbClr val="0F1C82"/>
                </a:solidFill>
              </a:rPr>
              <a:t>Flujo replicado por Raft</a:t>
            </a:r>
          </a:p>
          <a:p>
            <a:pPr marL="0" indent="0">
              <a:buNone/>
            </a:pPr>
            <a:r>
              <a:rPr lang="es-ES" sz="1300" dirty="0">
                <a:latin typeface="Consolas"/>
              </a:rPr>
              <a:t>1.  commit_move("alice", hash)               → oculto, vinculante</a:t>
            </a:r>
          </a:p>
          <a:p>
            <a:pPr marL="0" indent="0">
              <a:buNone/>
            </a:pPr>
            <a:r>
              <a:rPr lang="es-ES" sz="1300" dirty="0">
                <a:latin typeface="Consolas"/>
              </a:rPr>
              <a:t>2.  reveal_move("alice", ROCK, "nonce-a")    → FSM recalcula SHA256</a:t>
            </a:r>
          </a:p>
          <a:p>
            <a:pPr marL="0" indent="0">
              <a:buNone/>
            </a:pPr>
            <a:r>
              <a:rPr lang="es-ES" sz="1300" dirty="0">
                <a:latin typeface="Consolas"/>
              </a:rPr>
              <a:t>3.  si hash coincide → reveals[alice]=ROCK; si no → error</a:t>
            </a:r>
          </a:p>
          <a:p>
            <a:pPr marL="228600" indent="-228600">
              <a:buFont typeface="Arial"/>
              <a:buChar char="•"/>
            </a:pPr>
            <a:r>
              <a:rPr lang="es-ES" sz="1400" dirty="0"/>
              <a:t>El reveal inválido no muta el estado del juego.</a:t>
            </a:r>
          </a:p>
          <a:p>
            <a:pPr marL="228600" indent="-228600">
              <a:buFont typeface="Arial"/>
              <a:buChar char="•"/>
            </a:pPr>
            <a:r>
              <a:rPr lang="es-ES" sz="1400" dirty="0"/>
              <a:t>La validación es determinista: todos los nodos llegan al mismo veredicto.</a:t>
            </a:r>
          </a:p>
          <a:p>
            <a:pPr marL="228600" indent="-228600">
              <a:buFont typeface="Arial"/>
              <a:buChar char="•"/>
            </a:pPr>
            <a:r>
              <a:rPr lang="es-ES" sz="1400" dirty="0"/>
              <a:t>Reusar nonce abre la puerta a replay; cada ronda debe estrenar uno.</a:t>
            </a:r>
          </a:p>
        </p:txBody>
      </p:sp>
    </p:spTree>
    <p:extLst>
      <p:ext uri="{BB962C8B-B14F-4D97-AF65-F5344CB8AC3E}">
        <p14:creationId xmlns:p14="http://schemas.microsoft.com/office/powerpoint/2010/main" val="37386830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C3B335-C536-AD01-7C20-0D954ED52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s-ES" sz="2800" b="1" dirty="0">
                <a:solidFill>
                  <a:srgbClr val="006EB7"/>
                </a:solidFill>
              </a:rPr>
              <a:t>Implementación C local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0B59A0F-2A36-42CA-D935-621C7B9AF4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789857"/>
            <a:ext cx="8520600" cy="3416400"/>
          </a:xfrm>
        </p:spPr>
        <p:txBody>
          <a:bodyPr/>
          <a:lstStyle/>
          <a:p>
            <a:pPr marL="0" indent="0">
              <a:buNone/>
            </a:pPr>
            <a:r>
              <a:rPr lang="es-ES" sz="1400" i="1" dirty="0">
                <a:solidFill>
                  <a:srgbClr val="677480"/>
                </a:solidFill>
              </a:rPr>
              <a:t>Objetivo: ver cómo el modelo baja a C sin acoplarse a la red.</a:t>
            </a:r>
          </a:p>
          <a:p>
            <a:pPr marL="0" indent="0">
              <a:buNone/>
            </a:pPr>
            <a:r>
              <a:rPr lang="es-ES" sz="1100" dirty="0">
                <a:latin typeface="Consolas"/>
              </a:rPr>
              <a:t>typedef enum {</a:t>
            </a:r>
          </a:p>
          <a:p>
            <a:pPr marL="0" indent="0">
              <a:buNone/>
            </a:pPr>
            <a:r>
              <a:rPr lang="es-ES" sz="1100" dirty="0">
                <a:latin typeface="Consolas"/>
              </a:rPr>
              <a:t>    RPS_STATE_WAITING_PLAYERS = 0, RPS_STATE_CONFIGURING_GAME = 1,</a:t>
            </a:r>
          </a:p>
          <a:p>
            <a:pPr marL="0" indent="0">
              <a:buNone/>
            </a:pPr>
            <a:r>
              <a:rPr lang="es-ES" sz="1100" dirty="0">
                <a:latin typeface="Consolas"/>
              </a:rPr>
              <a:t>    RPS_STATE_ROUND_OPEN = 2,      RPS_STATE_WAITING_COMMITS = 3,</a:t>
            </a:r>
          </a:p>
          <a:p>
            <a:pPr marL="0" indent="0">
              <a:buNone/>
            </a:pPr>
            <a:r>
              <a:rPr lang="es-ES" sz="1100" dirty="0">
                <a:latin typeface="Consolas"/>
              </a:rPr>
              <a:t>    RPS_STATE_WAITING_REVEALS = 4, RPS_STATE_RESOLVING_ROUND = 5,</a:t>
            </a:r>
          </a:p>
          <a:p>
            <a:pPr marL="0" indent="0">
              <a:buNone/>
            </a:pPr>
            <a:r>
              <a:rPr lang="es-ES" sz="1100" dirty="0">
                <a:latin typeface="Consolas"/>
              </a:rPr>
              <a:t>    RPS_STATE_ROUND_FINISHED = 6,  RPS_STATE_GAME_OVER = 7</a:t>
            </a:r>
          </a:p>
          <a:p>
            <a:pPr marL="0" indent="0">
              <a:buNone/>
            </a:pPr>
            <a:r>
              <a:rPr lang="es-ES" sz="1100" dirty="0">
                <a:latin typeface="Consolas"/>
              </a:rPr>
              <a:t>} rps_state_t;</a:t>
            </a:r>
          </a:p>
          <a:p>
            <a:pPr marL="0" indent="0">
              <a:buNone/>
            </a:pPr>
            <a:r>
              <a:rPr lang="es-ES" sz="1100" dirty="0">
                <a:latin typeface="Consolas"/>
              </a:rPr>
              <a:t> </a:t>
            </a:r>
          </a:p>
          <a:p>
            <a:pPr marL="0" indent="0">
              <a:buNone/>
            </a:pPr>
            <a:r>
              <a:rPr lang="es-ES" sz="1100" dirty="0">
                <a:latin typeface="Consolas"/>
              </a:rPr>
              <a:t>int rps_game_add_player     (rps_game_t *g, const char *id);</a:t>
            </a:r>
          </a:p>
          <a:p>
            <a:pPr marL="0" indent="0">
              <a:buNone/>
            </a:pPr>
            <a:r>
              <a:rPr lang="es-ES" sz="1100" dirty="0">
                <a:latin typeface="Consolas"/>
              </a:rPr>
              <a:t>int rps_game_confirm_players(rps_game_t *g);</a:t>
            </a:r>
          </a:p>
          <a:p>
            <a:pPr marL="0" indent="0">
              <a:buNone/>
            </a:pPr>
            <a:r>
              <a:rPr lang="es-ES" sz="1100" dirty="0">
                <a:latin typeface="Consolas"/>
              </a:rPr>
              <a:t>int rps_game_configure      (rps_game_t *g, const rps_game_config_t *c);</a:t>
            </a:r>
          </a:p>
          <a:p>
            <a:pPr marL="0" indent="0">
              <a:buNone/>
            </a:pPr>
            <a:r>
              <a:rPr lang="es-ES" sz="1100" dirty="0">
                <a:latin typeface="Consolas"/>
              </a:rPr>
              <a:t>int rps_game_start_round    (rps_game_t *g);</a:t>
            </a:r>
          </a:p>
          <a:p>
            <a:pPr marL="0" indent="0">
              <a:buNone/>
            </a:pPr>
            <a:r>
              <a:rPr lang="es-ES" sz="1100" dirty="0">
                <a:latin typeface="Consolas"/>
              </a:rPr>
              <a:t>int rps_game_submit_commit  (rps_game_t *g, const char *id, const char *hash);</a:t>
            </a:r>
          </a:p>
          <a:p>
            <a:pPr marL="0" indent="0">
              <a:buNone/>
            </a:pPr>
            <a:r>
              <a:rPr lang="es-ES" sz="1100" dirty="0">
                <a:latin typeface="Consolas"/>
              </a:rPr>
              <a:t>int rps_game_reveal         (rps_game_t *g, const char *id, rps_move_t m, const char *nonce);</a:t>
            </a:r>
          </a:p>
          <a:p>
            <a:pPr marL="228600" indent="-228600">
              <a:buFont typeface="Arial"/>
              <a:buChar char="•"/>
            </a:pPr>
            <a:r>
              <a:rPr lang="es-ES" sz="1300" dirty="0"/>
              <a:t>La FSM local no conoce TCP, Raft ni snapshots.</a:t>
            </a:r>
          </a:p>
          <a:p>
            <a:pPr marL="228600" indent="-228600">
              <a:buFont typeface="Arial"/>
              <a:buChar char="•"/>
            </a:pPr>
            <a:r>
              <a:rPr lang="es-ES" sz="1300" dirty="0"/>
              <a:t>Es determinista, testeable en host y reutilizable en otros transportes.</a:t>
            </a:r>
          </a:p>
        </p:txBody>
      </p:sp>
    </p:spTree>
    <p:extLst>
      <p:ext uri="{BB962C8B-B14F-4D97-AF65-F5344CB8AC3E}">
        <p14:creationId xmlns:p14="http://schemas.microsoft.com/office/powerpoint/2010/main" val="29359141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AC00A7-9E85-5542-0B47-76E5ED13C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s-ES" sz="2800" b="1" dirty="0">
                <a:solidFill>
                  <a:srgbClr val="006EB7"/>
                </a:solidFill>
              </a:rPr>
              <a:t>Guardas y acciones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895359B-448F-0B26-A551-568EE93E2A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915985"/>
            <a:ext cx="8520600" cy="3416400"/>
          </a:xfrm>
        </p:spPr>
        <p:txBody>
          <a:bodyPr/>
          <a:lstStyle/>
          <a:p>
            <a:pPr marL="0" indent="0">
              <a:buNone/>
            </a:pPr>
            <a:r>
              <a:rPr lang="es-ES" sz="1400" i="1" dirty="0">
                <a:solidFill>
                  <a:srgbClr val="677480"/>
                </a:solidFill>
              </a:rPr>
              <a:t>Objetivo: traducir las guardas LTL/FSM a código C defensivo.</a:t>
            </a:r>
          </a:p>
          <a:p>
            <a:pPr marL="0" indent="0">
              <a:buNone/>
            </a:pPr>
            <a:r>
              <a:rPr lang="es-ES" sz="1050" dirty="0">
                <a:latin typeface="Consolas"/>
              </a:rPr>
              <a:t>int rps_game_submit_commit(rps_game_t *g,</a:t>
            </a:r>
          </a:p>
          <a:p>
            <a:pPr marL="0" indent="0">
              <a:buNone/>
            </a:pPr>
            <a:r>
              <a:rPr lang="es-ES" sz="1050" dirty="0">
                <a:latin typeface="Consolas"/>
              </a:rPr>
              <a:t>                           const char *id, const char *hash) {</a:t>
            </a:r>
          </a:p>
          <a:p>
            <a:pPr marL="0" indent="0">
              <a:buNone/>
            </a:pPr>
            <a:r>
              <a:rPr lang="es-ES" sz="1050" dirty="0">
                <a:latin typeface="Consolas"/>
              </a:rPr>
              <a:t>    if (g-&gt;state != RPS_STATE_WAITING_COMMITS) return RPS_ERR_STATE;</a:t>
            </a:r>
          </a:p>
          <a:p>
            <a:pPr marL="0" indent="0">
              <a:buNone/>
            </a:pPr>
            <a:r>
              <a:rPr lang="es-ES" sz="1050" dirty="0">
                <a:latin typeface="Consolas"/>
              </a:rPr>
              <a:t>    player_t *p = find_player(g, id);</a:t>
            </a:r>
          </a:p>
          <a:p>
            <a:pPr marL="0" indent="0">
              <a:buNone/>
            </a:pPr>
            <a:r>
              <a:rPr lang="es-ES" sz="1050" dirty="0">
                <a:latin typeface="Consolas"/>
              </a:rPr>
              <a:t>    if (!p) return RPS_ERR_UNKNOWN_PLAYER;        /* P3 */</a:t>
            </a:r>
          </a:p>
          <a:p>
            <a:pPr marL="0" indent="0">
              <a:buNone/>
            </a:pPr>
            <a:r>
              <a:rPr lang="es-ES" sz="1050" dirty="0">
                <a:latin typeface="Consolas"/>
              </a:rPr>
              <a:t>    if (!p-&gt;commit_set) {                          /* primer commit */</a:t>
            </a:r>
          </a:p>
          <a:p>
            <a:pPr marL="0" indent="0">
              <a:buNone/>
            </a:pPr>
            <a:r>
              <a:rPr lang="es-ES" sz="1050" dirty="0">
                <a:latin typeface="Consolas"/>
              </a:rPr>
              <a:t>        memcpy(p-&gt;commit_hash, hash, RPS_HASH_LEN);</a:t>
            </a:r>
          </a:p>
          <a:p>
            <a:pPr marL="0" indent="0">
              <a:buNone/>
            </a:pPr>
            <a:r>
              <a:rPr lang="es-ES" sz="1050" dirty="0">
                <a:latin typeface="Consolas"/>
              </a:rPr>
              <a:t>        p-&gt;commit_set = 1;</a:t>
            </a:r>
          </a:p>
          <a:p>
            <a:pPr marL="0" indent="0">
              <a:buNone/>
            </a:pPr>
            <a:r>
              <a:rPr lang="es-ES" sz="1050" dirty="0">
                <a:latin typeface="Consolas"/>
              </a:rPr>
              <a:t>        return RPS_OK;</a:t>
            </a:r>
          </a:p>
          <a:p>
            <a:pPr marL="0" indent="0">
              <a:buNone/>
            </a:pPr>
            <a:r>
              <a:rPr lang="es-ES" sz="1050" dirty="0">
                <a:latin typeface="Consolas"/>
              </a:rPr>
              <a:t>    }</a:t>
            </a:r>
          </a:p>
          <a:p>
            <a:pPr marL="0" indent="0">
              <a:buNone/>
            </a:pPr>
            <a:r>
              <a:rPr lang="es-ES" sz="1050" dirty="0">
                <a:latin typeface="Consolas"/>
              </a:rPr>
              <a:t>    if (memcmp(p-&gt;commit_hash, hash, RPS_HASH_LEN) == 0)</a:t>
            </a:r>
          </a:p>
          <a:p>
            <a:pPr marL="0" indent="0">
              <a:buNone/>
            </a:pPr>
            <a:r>
              <a:rPr lang="es-ES" sz="1050" dirty="0">
                <a:latin typeface="Consolas"/>
              </a:rPr>
              <a:t>        return RPS_OK;                             /* no-op (P8) */</a:t>
            </a:r>
          </a:p>
          <a:p>
            <a:pPr marL="0" indent="0">
              <a:buNone/>
            </a:pPr>
            <a:r>
              <a:rPr lang="es-ES" sz="1050" dirty="0">
                <a:latin typeface="Consolas"/>
              </a:rPr>
              <a:t>    return RPS_ERR_CONFLICT;                       /* conflicto */</a:t>
            </a:r>
          </a:p>
          <a:p>
            <a:pPr marL="0" indent="0">
              <a:buNone/>
            </a:pPr>
            <a:r>
              <a:rPr lang="es-ES" sz="1050" dirty="0">
                <a:latin typeface="Consolas"/>
              </a:rPr>
              <a:t>}</a:t>
            </a:r>
          </a:p>
          <a:p>
            <a:pPr marL="0" indent="0" algn="ctr">
              <a:buNone/>
            </a:pPr>
            <a:r>
              <a:rPr lang="es-ES" sz="1200" b="1" i="1" dirty="0">
                <a:solidFill>
                  <a:srgbClr val="E61931"/>
                </a:solidFill>
              </a:rPr>
              <a:t>Cada rama del if corresponde a una transición de la tabla.</a:t>
            </a:r>
          </a:p>
        </p:txBody>
      </p:sp>
    </p:spTree>
    <p:extLst>
      <p:ext uri="{BB962C8B-B14F-4D97-AF65-F5344CB8AC3E}">
        <p14:creationId xmlns:p14="http://schemas.microsoft.com/office/powerpoint/2010/main" val="1422128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43F148-0A23-8BA4-D0FA-0221D9B5E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s-ES" sz="2800" b="1" dirty="0">
                <a:solidFill>
                  <a:srgbClr val="006EB7"/>
                </a:solidFill>
              </a:rPr>
              <a:t>Tests del modelo local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4CE51DC-295D-F3E2-252A-F9A3BEC253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sz="1400" i="1" dirty="0">
                <a:solidFill>
                  <a:srgbClr val="677480"/>
                </a:solidFill>
              </a:rPr>
              <a:t>Objetivo: blindar la FSM con casos derivados de las propiedades LTL.</a:t>
            </a:r>
          </a:p>
          <a:p>
            <a:pPr marL="0" indent="0">
              <a:buNone/>
            </a:pPr>
            <a:r>
              <a:rPr lang="es-ES" sz="1500" b="1" dirty="0">
                <a:solidFill>
                  <a:srgbClr val="006EB7"/>
                </a:solidFill>
              </a:rPr>
              <a:t>Pirámide</a:t>
            </a:r>
          </a:p>
          <a:p>
            <a:pPr marL="228600" indent="-228600">
              <a:buFont typeface="Arial"/>
              <a:buChar char="•"/>
            </a:pPr>
            <a:r>
              <a:rPr lang="es-ES" sz="1500" b="1" dirty="0"/>
              <a:t>SPIN: </a:t>
            </a:r>
            <a:r>
              <a:rPr lang="es-ES" sz="1500" dirty="0"/>
              <a:t>cubre las propiedades P1–P11 sobre el modelo Promela.</a:t>
            </a:r>
          </a:p>
          <a:p>
            <a:pPr marL="228600" indent="-228600">
              <a:buFont typeface="Arial"/>
              <a:buChar char="•"/>
            </a:pPr>
            <a:r>
              <a:rPr lang="es-ES" sz="1500" b="1" dirty="0"/>
              <a:t>Tests unitarios C: </a:t>
            </a:r>
            <a:r>
              <a:rPr lang="es-ES" sz="1500" dirty="0"/>
              <a:t>cada transición y cada guarda.</a:t>
            </a:r>
          </a:p>
          <a:p>
            <a:pPr marL="228600" indent="-228600">
              <a:buFont typeface="Arial"/>
              <a:buChar char="•"/>
            </a:pPr>
            <a:r>
              <a:rPr lang="es-ES" sz="1500" b="1" dirty="0"/>
              <a:t>Tests de escenario: </a:t>
            </a:r>
            <a:r>
              <a:rPr lang="es-ES" sz="1500" dirty="0"/>
              <a:t>partidas completas, ronda a ronda.</a:t>
            </a:r>
          </a:p>
          <a:p>
            <a:pPr marL="0" indent="0">
              <a:buNone/>
            </a:pPr>
            <a:r>
              <a:rPr lang="es-ES" sz="1500" b="1" dirty="0">
                <a:solidFill>
                  <a:srgbClr val="006EB7"/>
                </a:solidFill>
              </a:rPr>
              <a:t>Casos obligatorios</a:t>
            </a:r>
          </a:p>
          <a:p>
            <a:pPr marL="228600" indent="-228600">
              <a:buFont typeface="Arial"/>
              <a:buChar char="•"/>
            </a:pPr>
            <a:r>
              <a:rPr lang="es-ES" sz="1400" dirty="0"/>
              <a:t>Happy path: partida completa hasta GAME_OVER.</a:t>
            </a:r>
          </a:p>
          <a:p>
            <a:pPr marL="228600" indent="-228600">
              <a:buFont typeface="Arial"/>
              <a:buChar char="•"/>
            </a:pPr>
            <a:r>
              <a:rPr lang="es-ES" sz="1400" dirty="0"/>
              <a:t>Reveal con hash inválido → error, estado intacto.</a:t>
            </a:r>
          </a:p>
          <a:p>
            <a:pPr marL="228600" indent="-228600">
              <a:buFont typeface="Arial"/>
              <a:buChar char="•"/>
            </a:pPr>
            <a:r>
              <a:rPr lang="es-ES" sz="1400" dirty="0"/>
              <a:t>Commit duplicado idéntico → no-op, sin error, sin doble contador.</a:t>
            </a:r>
          </a:p>
          <a:p>
            <a:pPr marL="228600" indent="-228600">
              <a:buFont typeface="Arial"/>
              <a:buChar char="•"/>
            </a:pPr>
            <a:r>
              <a:rPr lang="es-ES" sz="1400" dirty="0"/>
              <a:t>Commit con segundo hash → error de conflicto.</a:t>
            </a:r>
          </a:p>
          <a:p>
            <a:pPr marL="228600" indent="-228600">
              <a:buFont typeface="Arial"/>
              <a:buChar char="•"/>
            </a:pPr>
            <a:r>
              <a:rPr lang="es-ES" sz="1400" dirty="0"/>
              <a:t>Replay de log determinista: mismo estado final byte a byte.</a:t>
            </a:r>
          </a:p>
        </p:txBody>
      </p:sp>
    </p:spTree>
    <p:extLst>
      <p:ext uri="{BB962C8B-B14F-4D97-AF65-F5344CB8AC3E}">
        <p14:creationId xmlns:p14="http://schemas.microsoft.com/office/powerpoint/2010/main" val="40530185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9F1917-1CC3-50C6-E8EF-21E04E32F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s-ES" sz="2800" b="1" dirty="0">
                <a:solidFill>
                  <a:srgbClr val="006EB7"/>
                </a:solidFill>
              </a:rPr>
              <a:t>Por qué necesitamos Raft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7A3ACB6-0A57-6C4B-05C1-ED8E6A8A38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sz="1400" i="1" dirty="0">
                <a:solidFill>
                  <a:srgbClr val="677480"/>
                </a:solidFill>
              </a:rPr>
              <a:t>Objetivo: entender Raft como orden total comprometido y replicado.</a:t>
            </a:r>
          </a:p>
          <a:p>
            <a:pPr marL="228600" indent="-228600">
              <a:buFont typeface="Arial"/>
              <a:buChar char="•"/>
            </a:pPr>
            <a:r>
              <a:rPr lang="es-ES" sz="1500" dirty="0"/>
              <a:t>Necesitamos que todos los nodos vean la </a:t>
            </a:r>
            <a:r>
              <a:rPr lang="es-ES" sz="1500" b="1" dirty="0"/>
              <a:t>misma secuencia</a:t>
            </a:r>
            <a:r>
              <a:rPr lang="es-ES" sz="1500" dirty="0"/>
              <a:t> de operaciones.</a:t>
            </a:r>
          </a:p>
          <a:p>
            <a:pPr marL="228600" indent="-228600">
              <a:buFont typeface="Arial"/>
              <a:buChar char="•"/>
            </a:pPr>
            <a:r>
              <a:rPr lang="es-ES" sz="1500" dirty="0"/>
              <a:t>Raft elige un líder; el líder propone entradas; la mayoría las confirma.</a:t>
            </a:r>
          </a:p>
          <a:p>
            <a:pPr marL="228600" indent="-228600">
              <a:buFont typeface="Arial"/>
              <a:buChar char="•"/>
            </a:pPr>
            <a:r>
              <a:rPr lang="es-ES" sz="1500" dirty="0"/>
              <a:t>Una entrada comprometida sobrevive a caídas de minoría.</a:t>
            </a:r>
          </a:p>
          <a:p>
            <a:pPr marL="0" indent="0">
              <a:buNone/>
            </a:pPr>
            <a:r>
              <a:rPr lang="es-ES" sz="1400" dirty="0">
                <a:latin typeface="Consolas"/>
              </a:rPr>
              <a:t>	nodo 1: [op1][op2][op3][op4]	(idx commit = 4)</a:t>
            </a:r>
          </a:p>
          <a:p>
            <a:pPr marL="0" indent="0">
              <a:buNone/>
            </a:pPr>
            <a:r>
              <a:rPr lang="es-ES" sz="1400" dirty="0">
                <a:latin typeface="Consolas"/>
              </a:rPr>
              <a:t>	nodo 2: [op1][op2][op3][op4]	(idx commit = 4)</a:t>
            </a:r>
          </a:p>
          <a:p>
            <a:pPr marL="0" indent="0">
              <a:buNone/>
            </a:pPr>
            <a:r>
              <a:rPr lang="es-ES" sz="1400" dirty="0">
                <a:latin typeface="Consolas"/>
              </a:rPr>
              <a:t>	nodo 3: [op1][op2][op3][op4][op5]	(</a:t>
            </a:r>
            <a:r>
              <a:rPr lang="es-ES" sz="1400" dirty="0" err="1">
                <a:latin typeface="Consolas"/>
              </a:rPr>
              <a:t>idx</a:t>
            </a:r>
            <a:r>
              <a:rPr lang="es-ES" sz="1400" dirty="0">
                <a:latin typeface="Consolas"/>
              </a:rPr>
              <a:t> </a:t>
            </a:r>
            <a:r>
              <a:rPr lang="es-ES" sz="1400" dirty="0" err="1">
                <a:latin typeface="Consolas"/>
              </a:rPr>
              <a:t>commit</a:t>
            </a:r>
            <a:r>
              <a:rPr lang="es-ES" sz="1400" dirty="0">
                <a:latin typeface="Consolas"/>
              </a:rPr>
              <a:t> = 4)</a:t>
            </a:r>
          </a:p>
          <a:p>
            <a:pPr marL="0" indent="0">
              <a:buNone/>
            </a:pPr>
            <a:endParaRPr lang="es-ES" sz="1400" b="1" i="1" dirty="0">
              <a:solidFill>
                <a:srgbClr val="E61931"/>
              </a:solidFill>
              <a:latin typeface="Consolas"/>
            </a:endParaRPr>
          </a:p>
          <a:p>
            <a:pPr marL="0" indent="0" algn="ctr">
              <a:buNone/>
            </a:pPr>
            <a:r>
              <a:rPr lang="es-ES" sz="1300" b="1" i="1" dirty="0">
                <a:solidFill>
                  <a:srgbClr val="E61931"/>
                </a:solidFill>
              </a:rPr>
              <a:t>Raft no resuelve la lógica del juego; resuelve qué eventos existieron y en qué orden.</a:t>
            </a:r>
          </a:p>
        </p:txBody>
      </p:sp>
    </p:spTree>
    <p:extLst>
      <p:ext uri="{BB962C8B-B14F-4D97-AF65-F5344CB8AC3E}">
        <p14:creationId xmlns:p14="http://schemas.microsoft.com/office/powerpoint/2010/main" val="10309583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0EFFC1-ACCE-40DA-88F3-8E88F67C5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s-ES" sz="2800" b="1" dirty="0">
                <a:solidFill>
                  <a:srgbClr val="006EB7"/>
                </a:solidFill>
              </a:rPr>
              <a:t>Regla de oro: no apply antes del commit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E30E47D-D53A-40A0-68BD-2884A8130A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sz="1400" i="1" dirty="0">
                <a:solidFill>
                  <a:srgbClr val="677480"/>
                </a:solidFill>
              </a:rPr>
              <a:t>Objetivo: interiorizar el contrato entre Raft y la FSM de aplicación.</a:t>
            </a:r>
          </a:p>
          <a:p>
            <a:pPr marL="0" indent="0" algn="ctr">
              <a:buNone/>
            </a:pPr>
            <a:r>
              <a:rPr lang="es-ES" sz="2000" b="1" dirty="0">
                <a:solidFill>
                  <a:srgbClr val="006EB7"/>
                </a:solidFill>
              </a:rPr>
              <a:t>"Una acción de usuario no existe</a:t>
            </a:r>
          </a:p>
          <a:p>
            <a:pPr marL="0" indent="0" algn="ctr">
              <a:buNone/>
            </a:pPr>
            <a:r>
              <a:rPr lang="es-ES" sz="2000" b="1" dirty="0">
                <a:solidFill>
                  <a:srgbClr val="006EB7"/>
                </a:solidFill>
              </a:rPr>
              <a:t>para la FSM hasta que está</a:t>
            </a:r>
          </a:p>
          <a:p>
            <a:pPr marL="0" indent="0" algn="ctr">
              <a:buNone/>
            </a:pPr>
            <a:r>
              <a:rPr lang="es-ES" sz="2000" b="1" dirty="0">
                <a:solidFill>
                  <a:srgbClr val="006EB7"/>
                </a:solidFill>
              </a:rPr>
              <a:t>comprometida en el log de Raft."</a:t>
            </a:r>
          </a:p>
          <a:p>
            <a:pPr marL="228600" indent="-228600">
              <a:buFont typeface="Arial"/>
              <a:buChar char="•"/>
            </a:pPr>
            <a:r>
              <a:rPr lang="es-ES" sz="1500" dirty="0"/>
              <a:t>La CLI nunca llama a </a:t>
            </a:r>
            <a:r>
              <a:rPr lang="es-ES" sz="1500" dirty="0">
                <a:latin typeface="Consolas"/>
              </a:rPr>
              <a:t>rps_game_*</a:t>
            </a:r>
            <a:r>
              <a:rPr lang="es-ES" sz="1500" dirty="0"/>
              <a:t> directamente.</a:t>
            </a:r>
          </a:p>
          <a:p>
            <a:pPr marL="228600" indent="-228600">
              <a:buFont typeface="Arial"/>
              <a:buChar char="•"/>
            </a:pPr>
            <a:r>
              <a:rPr lang="es-ES" sz="1500" dirty="0"/>
              <a:t>El líder propone; la mayoría confirma; entonces se aplica.</a:t>
            </a:r>
          </a:p>
          <a:p>
            <a:pPr marL="228600" indent="-228600">
              <a:buFont typeface="Arial"/>
              <a:buChar char="•"/>
            </a:pPr>
            <a:r>
              <a:rPr lang="es-ES" sz="1500" dirty="0"/>
              <a:t>Aplicar antes del commit rompe consistencia tras una elección perdida.</a:t>
            </a:r>
          </a:p>
        </p:txBody>
      </p:sp>
    </p:spTree>
    <p:extLst>
      <p:ext uri="{BB962C8B-B14F-4D97-AF65-F5344CB8AC3E}">
        <p14:creationId xmlns:p14="http://schemas.microsoft.com/office/powerpoint/2010/main" val="30067905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4564F0-D5B8-3AAD-CA29-719018E2D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s-ES" sz="2800" b="1" dirty="0">
                <a:solidFill>
                  <a:srgbClr val="006EB7"/>
                </a:solidFill>
              </a:rPr>
              <a:t>Operaciones sincronizadas (no hay tick)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AC87AFF-C96A-8E23-0D6F-66C311CBF1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sz="1400" i="1" dirty="0">
                <a:solidFill>
                  <a:srgbClr val="677480"/>
                </a:solidFill>
              </a:rPr>
              <a:t>Objetivo: enumerar qué entradas llegan vía Raft y qué NO.</a:t>
            </a:r>
          </a:p>
          <a:p>
            <a:pPr marL="0" indent="0">
              <a:buNone/>
            </a:pPr>
            <a:r>
              <a:rPr lang="es-ES" sz="1500" b="1" dirty="0">
                <a:solidFill>
                  <a:srgbClr val="006EB7"/>
                </a:solidFill>
              </a:rPr>
              <a:t>Operaciones de juego (replicadas)</a:t>
            </a:r>
          </a:p>
          <a:p>
            <a:pPr marL="228600" indent="-228600">
              <a:buFont typeface="Arial"/>
              <a:buChar char="•"/>
            </a:pPr>
            <a:r>
              <a:rPr lang="es-ES" sz="1400" dirty="0">
                <a:latin typeface="Consolas"/>
              </a:rPr>
              <a:t>player_joined(player_id)</a:t>
            </a:r>
          </a:p>
          <a:p>
            <a:pPr marL="228600" indent="-228600">
              <a:buFont typeface="Arial"/>
              <a:buChar char="•"/>
            </a:pPr>
            <a:r>
              <a:rPr lang="es-ES" sz="1400" dirty="0">
                <a:latin typeface="Consolas"/>
              </a:rPr>
              <a:t>confirm_players()</a:t>
            </a:r>
          </a:p>
          <a:p>
            <a:pPr marL="228600" indent="-228600">
              <a:buFont typeface="Arial"/>
              <a:buChar char="•"/>
            </a:pPr>
            <a:r>
              <a:rPr lang="es-ES" sz="1400" dirty="0">
                <a:latin typeface="Consolas"/>
              </a:rPr>
              <a:t>configure(config)</a:t>
            </a:r>
          </a:p>
          <a:p>
            <a:pPr marL="228600" indent="-228600">
              <a:buFont typeface="Arial"/>
              <a:buChar char="•"/>
            </a:pPr>
            <a:r>
              <a:rPr lang="es-ES" sz="1400" dirty="0">
                <a:latin typeface="Consolas"/>
              </a:rPr>
              <a:t>start_round()</a:t>
            </a:r>
          </a:p>
          <a:p>
            <a:pPr marL="228600" indent="-228600">
              <a:buFont typeface="Arial"/>
              <a:buChar char="•"/>
            </a:pPr>
            <a:r>
              <a:rPr lang="es-ES" sz="1400" dirty="0">
                <a:latin typeface="Consolas"/>
              </a:rPr>
              <a:t>commit_move(player_id, commit_hash)</a:t>
            </a:r>
          </a:p>
          <a:p>
            <a:pPr marL="228600" indent="-228600">
              <a:buFont typeface="Arial"/>
              <a:buChar char="•"/>
            </a:pPr>
            <a:r>
              <a:rPr lang="es-ES" sz="1400" dirty="0">
                <a:latin typeface="Consolas"/>
              </a:rPr>
              <a:t>reveal_move(player_id, move, nonce)</a:t>
            </a:r>
          </a:p>
          <a:p>
            <a:pPr marL="0" indent="0">
              <a:buNone/>
            </a:pPr>
            <a:r>
              <a:rPr lang="es-ES" sz="1400" b="1" dirty="0">
                <a:solidFill>
                  <a:srgbClr val="AE9B6D"/>
                </a:solidFill>
              </a:rPr>
              <a:t>Infraestructura (no juego)</a:t>
            </a:r>
          </a:p>
          <a:p>
            <a:pPr marL="228600" indent="-228600">
              <a:buFont typeface="Arial"/>
              <a:buChar char="•"/>
            </a:pPr>
            <a:r>
              <a:rPr lang="es-ES" sz="1400" dirty="0">
                <a:latin typeface="Consolas"/>
              </a:rPr>
              <a:t>peer_set(node_id, address)</a:t>
            </a:r>
            <a:r>
              <a:rPr lang="es-ES" sz="1400" dirty="0"/>
              <a:t>  — descubrimiento de nodos</a:t>
            </a:r>
          </a:p>
          <a:p>
            <a:pPr marL="0" indent="0" algn="ctr">
              <a:buNone/>
            </a:pPr>
            <a:r>
              <a:rPr lang="es-ES" sz="1300" b="1" i="1" dirty="0">
                <a:solidFill>
                  <a:srgbClr val="E61931"/>
                </a:solidFill>
              </a:rPr>
              <a:t>NO hay tick en el log: las transiciones automáticas se drenan localmente.</a:t>
            </a:r>
          </a:p>
        </p:txBody>
      </p:sp>
    </p:spTree>
    <p:extLst>
      <p:ext uri="{BB962C8B-B14F-4D97-AF65-F5344CB8AC3E}">
        <p14:creationId xmlns:p14="http://schemas.microsoft.com/office/powerpoint/2010/main" val="7381756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D6AF19-0DB5-4AC0-7916-4137501E9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s-ES" sz="2800" b="1" dirty="0">
                <a:solidFill>
                  <a:srgbClr val="006EB7"/>
                </a:solidFill>
              </a:rPr>
              <a:t>Codificación como raft_command_t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4A5FBCE-6213-6837-9236-61406F47A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947517"/>
            <a:ext cx="8520600" cy="3416400"/>
          </a:xfrm>
        </p:spPr>
        <p:txBody>
          <a:bodyPr/>
          <a:lstStyle/>
          <a:p>
            <a:pPr marL="0" indent="0">
              <a:buNone/>
            </a:pPr>
            <a:r>
              <a:rPr lang="es-ES" sz="1400" i="1" dirty="0">
                <a:solidFill>
                  <a:srgbClr val="677480"/>
                </a:solidFill>
              </a:rPr>
              <a:t>Objetivo: ver cómo una operación del juego viaja por el log.</a:t>
            </a:r>
          </a:p>
          <a:p>
            <a:pPr marL="0" indent="0">
              <a:buNone/>
            </a:pPr>
            <a:r>
              <a:rPr lang="es-ES" sz="1400" b="1" dirty="0">
                <a:solidFill>
                  <a:schemeClr val="accent1"/>
                </a:solidFill>
              </a:rPr>
              <a:t>Estructura</a:t>
            </a:r>
          </a:p>
          <a:p>
            <a:pPr marL="0" indent="0">
              <a:buNone/>
            </a:pPr>
            <a:r>
              <a:rPr lang="es-ES" sz="1200" dirty="0">
                <a:latin typeface="Consolas"/>
              </a:rPr>
              <a:t>typedef struct {</a:t>
            </a:r>
          </a:p>
          <a:p>
            <a:pPr marL="0" indent="0">
              <a:buNone/>
            </a:pPr>
            <a:r>
              <a:rPr lang="es-ES" sz="1200" dirty="0">
                <a:latin typeface="Consolas"/>
              </a:rPr>
              <a:t>    char op[32];      /* p.ej. "rps.commit_move"   */</a:t>
            </a:r>
          </a:p>
          <a:p>
            <a:pPr marL="0" indent="0">
              <a:buNone/>
            </a:pPr>
            <a:r>
              <a:rPr lang="es-ES" sz="1200" dirty="0">
                <a:latin typeface="Consolas"/>
              </a:rPr>
              <a:t>    char key[64];     /* clave de idempotencia    */</a:t>
            </a:r>
          </a:p>
          <a:p>
            <a:pPr marL="0" indent="0">
              <a:buNone/>
            </a:pPr>
            <a:r>
              <a:rPr lang="es-ES" sz="1200" dirty="0">
                <a:latin typeface="Consolas"/>
              </a:rPr>
              <a:t>    char value[128];  /* payload del comando      */</a:t>
            </a:r>
          </a:p>
          <a:p>
            <a:pPr marL="0" indent="0">
              <a:buNone/>
            </a:pPr>
            <a:r>
              <a:rPr lang="es-ES" sz="1200" dirty="0">
                <a:latin typeface="Consolas"/>
              </a:rPr>
              <a:t>} raft_command_t;</a:t>
            </a:r>
          </a:p>
          <a:p>
            <a:pPr marL="0" indent="0">
              <a:buNone/>
            </a:pPr>
            <a:r>
              <a:rPr lang="es-ES" sz="1400" b="1" dirty="0">
                <a:solidFill>
                  <a:schemeClr val="accent1"/>
                </a:solidFill>
              </a:rPr>
              <a:t>Ejemplo</a:t>
            </a:r>
          </a:p>
          <a:p>
            <a:pPr marL="0" indent="0">
              <a:buNone/>
            </a:pPr>
            <a:r>
              <a:rPr lang="es-ES" sz="1200" dirty="0">
                <a:latin typeface="Consolas"/>
              </a:rPr>
              <a:t>/* Ejemplo: commit de alice en la ronda 7 */</a:t>
            </a:r>
          </a:p>
          <a:p>
            <a:pPr marL="0" indent="0">
              <a:buNone/>
            </a:pPr>
            <a:r>
              <a:rPr lang="es-ES" sz="1200" dirty="0">
                <a:latin typeface="Consolas"/>
              </a:rPr>
              <a:t>.op    = "rps.commit_move"</a:t>
            </a:r>
          </a:p>
          <a:p>
            <a:pPr marL="0" indent="0">
              <a:buNone/>
            </a:pPr>
            <a:r>
              <a:rPr lang="es-ES" sz="1200" dirty="0">
                <a:latin typeface="Consolas"/>
              </a:rPr>
              <a:t>.key   = "00000007"</a:t>
            </a:r>
          </a:p>
          <a:p>
            <a:pPr marL="0" indent="0">
              <a:buNone/>
            </a:pPr>
            <a:r>
              <a:rPr lang="es-ES" sz="1200" dirty="0">
                <a:latin typeface="Consolas"/>
              </a:rPr>
              <a:t>.value = "alice,&lt;hash&gt;"</a:t>
            </a:r>
          </a:p>
          <a:p>
            <a:pPr marL="228600" indent="-228600">
              <a:buFont typeface="Arial"/>
              <a:buChar char="•"/>
            </a:pPr>
            <a:r>
              <a:rPr lang="es-ES" sz="1300" dirty="0"/>
              <a:t>Campos de tamaño fijo: serialización trivial, sin alocación dinámica.</a:t>
            </a:r>
          </a:p>
          <a:p>
            <a:pPr marL="228600" indent="-228600">
              <a:buFont typeface="Arial"/>
              <a:buChar char="•"/>
            </a:pPr>
            <a:r>
              <a:rPr lang="es-ES" sz="1300" dirty="0"/>
              <a:t>La clave da idempotencia: dos commits con la misma key son el mismo evento.</a:t>
            </a:r>
          </a:p>
        </p:txBody>
      </p:sp>
    </p:spTree>
    <p:extLst>
      <p:ext uri="{BB962C8B-B14F-4D97-AF65-F5344CB8AC3E}">
        <p14:creationId xmlns:p14="http://schemas.microsoft.com/office/powerpoint/2010/main" val="9706252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C1B487-3F17-513C-5D08-AF6933DA7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s-ES" sz="2800" b="1" dirty="0">
                <a:solidFill>
                  <a:srgbClr val="006EB7"/>
                </a:solidFill>
              </a:rPr>
              <a:t>raft_application_t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6560D40-4E25-A597-6EF3-84BBEDBAAB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sz="1400" i="1" dirty="0">
                <a:solidFill>
                  <a:srgbClr val="677480"/>
                </a:solidFill>
              </a:rPr>
              <a:t>Objetivo: identificar los cuatro callbacks que toda aplicación debe ofrecer a Raft.</a:t>
            </a:r>
          </a:p>
          <a:p>
            <a:pPr marL="0" indent="0">
              <a:buNone/>
            </a:pPr>
            <a:r>
              <a:rPr lang="es-ES" sz="1100" dirty="0">
                <a:latin typeface="Consolas"/>
              </a:rPr>
              <a:t>typedef struct {</a:t>
            </a:r>
          </a:p>
          <a:p>
            <a:pPr marL="0" indent="0">
              <a:buNone/>
            </a:pPr>
            <a:r>
              <a:rPr lang="es-ES" sz="1100" dirty="0">
                <a:latin typeface="Consolas"/>
              </a:rPr>
              <a:t>    void   (*apply)            (void *user, const raft_command_t *cmd);</a:t>
            </a:r>
          </a:p>
          <a:p>
            <a:pPr marL="0" indent="0">
              <a:buNone/>
            </a:pPr>
            <a:r>
              <a:rPr lang="es-ES" sz="1100" dirty="0">
                <a:latin typeface="Consolas"/>
              </a:rPr>
              <a:t>    void   (*reload)           (void *user);</a:t>
            </a:r>
          </a:p>
          <a:p>
            <a:pPr marL="0" indent="0">
              <a:buNone/>
            </a:pPr>
            <a:r>
              <a:rPr lang="es-ES" sz="1100" dirty="0">
                <a:latin typeface="Consolas"/>
              </a:rPr>
              <a:t>    size_t (*snapshot)         (void *user, void *buf, size_t buf_size);</a:t>
            </a:r>
          </a:p>
          <a:p>
            <a:pPr marL="0" indent="0">
              <a:buNone/>
            </a:pPr>
            <a:r>
              <a:rPr lang="es-ES" sz="1100" dirty="0">
                <a:latin typeface="Consolas"/>
              </a:rPr>
              <a:t>    void   (*restore_snapshot) (void *user, const void *buf, size_t size);</a:t>
            </a:r>
          </a:p>
          <a:p>
            <a:pPr marL="0" indent="0">
              <a:buNone/>
            </a:pPr>
            <a:r>
              <a:rPr lang="es-ES" sz="1100" dirty="0">
                <a:latin typeface="Consolas"/>
              </a:rPr>
              <a:t>    void  *user;</a:t>
            </a:r>
          </a:p>
          <a:p>
            <a:pPr marL="0" indent="0">
              <a:buNone/>
            </a:pPr>
            <a:r>
              <a:rPr lang="es-ES" sz="1100" dirty="0">
                <a:latin typeface="Consolas"/>
              </a:rPr>
              <a:t>} raft_application_t;</a:t>
            </a:r>
          </a:p>
          <a:p>
            <a:pPr marL="228600" indent="-228600">
              <a:buFont typeface="Arial"/>
              <a:buChar char="•"/>
            </a:pPr>
            <a:r>
              <a:rPr lang="es-ES" sz="1300" b="1" dirty="0">
                <a:latin typeface="Consolas"/>
              </a:rPr>
              <a:t>apply</a:t>
            </a:r>
            <a:r>
              <a:rPr lang="es-ES" sz="1300" dirty="0"/>
              <a:t>: ejecuta un comando ya comprometido. Es el único camino al estado.</a:t>
            </a:r>
          </a:p>
          <a:p>
            <a:pPr marL="228600" indent="-228600">
              <a:buFont typeface="Arial"/>
              <a:buChar char="•"/>
            </a:pPr>
            <a:r>
              <a:rPr lang="es-ES" sz="1300" b="1" dirty="0">
                <a:latin typeface="Consolas"/>
              </a:rPr>
              <a:t>reload</a:t>
            </a:r>
            <a:r>
              <a:rPr lang="es-ES" sz="1300" dirty="0"/>
              <a:t>: avisa de un cambio externo (snapshot recibido, líder nuevo).</a:t>
            </a:r>
          </a:p>
          <a:p>
            <a:pPr marL="228600" indent="-228600">
              <a:buFont typeface="Arial"/>
              <a:buChar char="•"/>
            </a:pPr>
            <a:r>
              <a:rPr lang="es-ES" sz="1300" b="1" dirty="0">
                <a:latin typeface="Consolas"/>
              </a:rPr>
              <a:t>snapshot</a:t>
            </a:r>
            <a:r>
              <a:rPr lang="es-ES" sz="1300" dirty="0"/>
              <a:t>: serializa el estado para compactar el log.</a:t>
            </a:r>
          </a:p>
          <a:p>
            <a:pPr marL="228600" indent="-228600">
              <a:buFont typeface="Arial"/>
              <a:buChar char="•"/>
            </a:pPr>
            <a:r>
              <a:rPr lang="es-ES" sz="1300" b="1" dirty="0">
                <a:latin typeface="Consolas"/>
              </a:rPr>
              <a:t>restore_snapshot</a:t>
            </a:r>
            <a:r>
              <a:rPr lang="es-ES" sz="1300" dirty="0"/>
              <a:t>: reconstruye el estado tras reinicio o sync.</a:t>
            </a:r>
          </a:p>
        </p:txBody>
      </p:sp>
    </p:spTree>
    <p:extLst>
      <p:ext uri="{BB962C8B-B14F-4D97-AF65-F5344CB8AC3E}">
        <p14:creationId xmlns:p14="http://schemas.microsoft.com/office/powerpoint/2010/main" val="35137850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B8B5C2-73FC-DA16-B942-D32370807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s-ES" sz="2800" b="1" dirty="0">
                <a:solidFill>
                  <a:srgbClr val="006EB7"/>
                </a:solidFill>
              </a:rPr>
              <a:t>El adaptador: rps_app_t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1C2D737-6D6B-02F3-297D-9FB04C0AAD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sz="1400" i="1" dirty="0">
                <a:solidFill>
                  <a:srgbClr val="677480"/>
                </a:solidFill>
              </a:rPr>
              <a:t>Objetivo: ver dónde se traduce un comando Raft a una llamada de la FSM local.</a:t>
            </a:r>
          </a:p>
          <a:p>
            <a:pPr marL="0" indent="0">
              <a:buNone/>
            </a:pPr>
            <a:r>
              <a:rPr lang="es-ES" sz="1100" dirty="0">
                <a:latin typeface="Consolas"/>
              </a:rPr>
              <a:t>static void rps_app_apply(void *user, const raft_command_t *cmd) {</a:t>
            </a:r>
          </a:p>
          <a:p>
            <a:pPr marL="0" indent="0">
              <a:buNone/>
            </a:pPr>
            <a:r>
              <a:rPr lang="es-ES" sz="1100" dirty="0">
                <a:latin typeface="Consolas"/>
              </a:rPr>
              <a:t>    rps_app_t *app = (rps_app_t*)user;</a:t>
            </a:r>
          </a:p>
          <a:p>
            <a:pPr marL="0" indent="0">
              <a:buNone/>
            </a:pPr>
            <a:r>
              <a:rPr lang="es-ES" sz="1100" dirty="0">
                <a:latin typeface="Consolas"/>
              </a:rPr>
              <a:t>    if (strcmp(cmd-&gt;op, "rps.commit_move") == 0) {</a:t>
            </a:r>
          </a:p>
          <a:p>
            <a:pPr marL="0" indent="0">
              <a:buNone/>
            </a:pPr>
            <a:r>
              <a:rPr lang="es-ES" sz="1100" dirty="0">
                <a:latin typeface="Consolas"/>
              </a:rPr>
              <a:t>        char player[64]; char hash[129];</a:t>
            </a:r>
          </a:p>
          <a:p>
            <a:pPr marL="0" indent="0">
              <a:buNone/>
            </a:pPr>
            <a:r>
              <a:rPr lang="es-ES" sz="1100" dirty="0">
                <a:latin typeface="Consolas"/>
              </a:rPr>
              <a:t>        sscanf(cmd-&gt;value, "%63[^,],%128s", player, hash);</a:t>
            </a:r>
          </a:p>
          <a:p>
            <a:pPr marL="0" indent="0">
              <a:buNone/>
            </a:pPr>
            <a:r>
              <a:rPr lang="es-ES" sz="1100" dirty="0">
                <a:latin typeface="Consolas"/>
              </a:rPr>
              <a:t>        rps_game_submit_commit(&amp;app-&gt;game, player, hash);</a:t>
            </a:r>
          </a:p>
          <a:p>
            <a:pPr marL="0" indent="0">
              <a:buNone/>
            </a:pPr>
            <a:r>
              <a:rPr lang="es-ES" sz="1100" dirty="0">
                <a:latin typeface="Consolas"/>
              </a:rPr>
              <a:t>    } else if (strcmp(cmd-&gt;op, "rps.reveal_move") == 0) {</a:t>
            </a:r>
          </a:p>
          <a:p>
            <a:pPr marL="0" indent="0">
              <a:buNone/>
            </a:pPr>
            <a:r>
              <a:rPr lang="es-ES" sz="1100" dirty="0">
                <a:latin typeface="Consolas"/>
              </a:rPr>
              <a:t>        /* ... reveal ... */</a:t>
            </a:r>
          </a:p>
          <a:p>
            <a:pPr marL="0" indent="0">
              <a:buNone/>
            </a:pPr>
            <a:r>
              <a:rPr lang="es-ES" sz="1100" dirty="0">
                <a:latin typeface="Consolas"/>
              </a:rPr>
              <a:t>    }</a:t>
            </a:r>
          </a:p>
          <a:p>
            <a:pPr marL="0" indent="0">
              <a:buNone/>
            </a:pPr>
            <a:r>
              <a:rPr lang="es-ES" sz="1100" dirty="0">
                <a:latin typeface="Consolas"/>
              </a:rPr>
              <a:t>    drain_automatic_transitions(&amp;app-&gt;game);  /* P9, P10, P11 */</a:t>
            </a:r>
          </a:p>
          <a:p>
            <a:pPr marL="0" indent="0">
              <a:buNone/>
            </a:pPr>
            <a:r>
              <a:rPr lang="es-ES" sz="1100" dirty="0">
                <a:latin typeface="Consolas"/>
              </a:rPr>
              <a:t>}</a:t>
            </a:r>
          </a:p>
          <a:p>
            <a:pPr marL="228600" indent="-228600">
              <a:buFont typeface="Arial"/>
              <a:buChar char="•"/>
            </a:pPr>
            <a:r>
              <a:rPr lang="es-ES" sz="1300" dirty="0"/>
              <a:t>El adaptador no decide política: deserializa y delega en la FSM pura.</a:t>
            </a:r>
          </a:p>
          <a:p>
            <a:pPr marL="228600" indent="-228600">
              <a:buFont typeface="Arial"/>
              <a:buChar char="•"/>
            </a:pPr>
            <a:r>
              <a:rPr lang="es-ES" sz="1300" dirty="0"/>
              <a:t>Tras cada apply se drenan las transiciones automáticas (sin tick externo).</a:t>
            </a:r>
          </a:p>
        </p:txBody>
      </p:sp>
    </p:spTree>
    <p:extLst>
      <p:ext uri="{BB962C8B-B14F-4D97-AF65-F5344CB8AC3E}">
        <p14:creationId xmlns:p14="http://schemas.microsoft.com/office/powerpoint/2010/main" val="17468384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2B5686-F31D-3A39-A613-73D66F8BD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s-ES" sz="2800" b="1" dirty="0">
                <a:solidFill>
                  <a:srgbClr val="006EB7"/>
                </a:solidFill>
              </a:rPr>
              <a:t>Drenaje de transiciones automáticas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7F7768A-BB5E-F268-83BA-6CFBA2F5CF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742559"/>
            <a:ext cx="8520600" cy="3416400"/>
          </a:xfrm>
        </p:spPr>
        <p:txBody>
          <a:bodyPr/>
          <a:lstStyle/>
          <a:p>
            <a:pPr marL="0" indent="0">
              <a:buNone/>
            </a:pPr>
            <a:r>
              <a:rPr lang="es-ES" sz="1400" i="1" dirty="0">
                <a:solidFill>
                  <a:srgbClr val="677480"/>
                </a:solidFill>
              </a:rPr>
              <a:t>Objetivo: garantizar liveness (P9–P11) sin replicar el reloj.</a:t>
            </a:r>
          </a:p>
          <a:p>
            <a:pPr marL="0" indent="0">
              <a:buNone/>
            </a:pPr>
            <a:r>
              <a:rPr lang="es-ES" sz="1000" dirty="0">
                <a:latin typeface="Consolas"/>
              </a:rPr>
              <a:t>static void drain_automatic_transitions(rps_game_t *g) {</a:t>
            </a:r>
          </a:p>
          <a:p>
            <a:pPr marL="0" indent="0">
              <a:buNone/>
            </a:pPr>
            <a:r>
              <a:rPr lang="es-ES" sz="1000" dirty="0">
                <a:latin typeface="Consolas"/>
              </a:rPr>
              <a:t>    for (;;) {</a:t>
            </a:r>
          </a:p>
          <a:p>
            <a:pPr marL="0" indent="0">
              <a:buNone/>
            </a:pPr>
            <a:r>
              <a:rPr lang="es-ES" sz="1000" dirty="0">
                <a:latin typeface="Consolas"/>
              </a:rPr>
              <a:t>        rps_state_t s = g-&gt;state;</a:t>
            </a:r>
          </a:p>
          <a:p>
            <a:pPr marL="0" indent="0">
              <a:buNone/>
            </a:pPr>
            <a:r>
              <a:rPr lang="es-ES" sz="1000" dirty="0">
                <a:latin typeface="Consolas"/>
              </a:rPr>
              <a:t>        if (s == RPS_STATE_WAITING_COMMITS &amp;&amp; all_commits_received(g))</a:t>
            </a:r>
          </a:p>
          <a:p>
            <a:pPr marL="0" indent="0">
              <a:buNone/>
            </a:pPr>
            <a:r>
              <a:rPr lang="es-ES" sz="1000" dirty="0">
                <a:latin typeface="Consolas"/>
              </a:rPr>
              <a:t>            rps_game_advance_to_reveals(g);</a:t>
            </a:r>
          </a:p>
          <a:p>
            <a:pPr marL="0" indent="0">
              <a:buNone/>
            </a:pPr>
            <a:r>
              <a:rPr lang="es-ES" sz="1000" dirty="0">
                <a:latin typeface="Consolas"/>
              </a:rPr>
              <a:t>        else if (s == RPS_STATE_WAITING_REVEALS &amp;&amp; all_reveals_received(g))</a:t>
            </a:r>
          </a:p>
          <a:p>
            <a:pPr marL="0" indent="0">
              <a:buNone/>
            </a:pPr>
            <a:r>
              <a:rPr lang="es-ES" sz="1000" dirty="0">
                <a:latin typeface="Consolas"/>
              </a:rPr>
              <a:t>            rps_game_advance_to_resolve(g);</a:t>
            </a:r>
          </a:p>
          <a:p>
            <a:pPr marL="0" indent="0">
              <a:buNone/>
            </a:pPr>
            <a:r>
              <a:rPr lang="es-ES" sz="1000" dirty="0">
                <a:latin typeface="Consolas"/>
              </a:rPr>
              <a:t>        else if (s == RPS_STATE_RESOLVING_ROUND)</a:t>
            </a:r>
          </a:p>
          <a:p>
            <a:pPr marL="0" indent="0">
              <a:buNone/>
            </a:pPr>
            <a:r>
              <a:rPr lang="es-ES" sz="1000" dirty="0">
                <a:latin typeface="Consolas"/>
              </a:rPr>
              <a:t>            rps_game_commit_result(g);</a:t>
            </a:r>
          </a:p>
          <a:p>
            <a:pPr marL="0" indent="0">
              <a:buNone/>
            </a:pPr>
            <a:r>
              <a:rPr lang="es-ES" sz="1000" dirty="0">
                <a:latin typeface="Consolas"/>
              </a:rPr>
              <a:t>        else if (s == RPS_STATE_ROUND_FINISHED &amp;&amp; has_winner(g))</a:t>
            </a:r>
          </a:p>
          <a:p>
            <a:pPr marL="0" indent="0">
              <a:buNone/>
            </a:pPr>
            <a:r>
              <a:rPr lang="es-ES" sz="1000" dirty="0">
                <a:latin typeface="Consolas"/>
              </a:rPr>
              <a:t>            rps_game_end(g);</a:t>
            </a:r>
          </a:p>
          <a:p>
            <a:pPr marL="0" indent="0">
              <a:buNone/>
            </a:pPr>
            <a:r>
              <a:rPr lang="es-ES" sz="1000" dirty="0">
                <a:latin typeface="Consolas"/>
              </a:rPr>
              <a:t>        else</a:t>
            </a:r>
          </a:p>
          <a:p>
            <a:pPr marL="0" indent="0">
              <a:buNone/>
            </a:pPr>
            <a:r>
              <a:rPr lang="es-ES" sz="1000" dirty="0">
                <a:latin typeface="Consolas"/>
              </a:rPr>
              <a:t>            break;            /* no quedan transiciones automáticas */</a:t>
            </a:r>
          </a:p>
          <a:p>
            <a:pPr marL="0" indent="0">
              <a:buNone/>
            </a:pPr>
            <a:r>
              <a:rPr lang="es-ES" sz="1000" dirty="0">
                <a:latin typeface="Consolas"/>
              </a:rPr>
              <a:t>    }</a:t>
            </a:r>
          </a:p>
          <a:p>
            <a:pPr marL="0" indent="0">
              <a:buNone/>
            </a:pPr>
            <a:r>
              <a:rPr lang="es-ES" sz="1000" dirty="0">
                <a:latin typeface="Consolas"/>
              </a:rPr>
              <a:t>}</a:t>
            </a:r>
          </a:p>
          <a:p>
            <a:pPr marL="228600" indent="-228600">
              <a:buFont typeface="Arial"/>
              <a:buChar char="•"/>
            </a:pPr>
            <a:r>
              <a:rPr lang="es-ES" sz="1200" dirty="0"/>
              <a:t>Determinista: depende solo del estado, no del reloj de pared.</a:t>
            </a:r>
          </a:p>
          <a:p>
            <a:pPr marL="228600" indent="-228600">
              <a:buFont typeface="Arial"/>
              <a:buChar char="•"/>
            </a:pPr>
            <a:r>
              <a:rPr lang="es-ES" sz="1200" dirty="0"/>
              <a:t>Todos los nodos drenan el mismo número de transiciones tras cada apply.</a:t>
            </a:r>
          </a:p>
        </p:txBody>
      </p:sp>
    </p:spTree>
    <p:extLst>
      <p:ext uri="{BB962C8B-B14F-4D97-AF65-F5344CB8AC3E}">
        <p14:creationId xmlns:p14="http://schemas.microsoft.com/office/powerpoint/2010/main" val="24142398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DBC4D6-7A5A-C466-8037-F81C2E1C6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s-ES" sz="2800" b="1" dirty="0">
                <a:solidFill>
                  <a:srgbClr val="006EB7"/>
                </a:solidFill>
              </a:rPr>
              <a:t>Snapshot y recuperación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2AC5754-9E1C-E867-6528-4D855CF795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sz="1400" i="1" dirty="0">
                <a:solidFill>
                  <a:srgbClr val="677480"/>
                </a:solidFill>
              </a:rPr>
              <a:t>Objetivo: explicar por qué sin snapshot el log crece sin límite.</a:t>
            </a:r>
          </a:p>
          <a:p>
            <a:pPr marL="0" indent="0">
              <a:buNone/>
            </a:pPr>
            <a:r>
              <a:rPr lang="es-ES" sz="1500" b="1" dirty="0">
                <a:solidFill>
                  <a:srgbClr val="006EB7"/>
                </a:solidFill>
              </a:rPr>
              <a:t>Qué va en el snapshot</a:t>
            </a:r>
          </a:p>
          <a:p>
            <a:pPr marL="228600" indent="-228600">
              <a:buFont typeface="Arial"/>
              <a:buChar char="•"/>
            </a:pPr>
            <a:r>
              <a:rPr lang="es-ES" sz="1400" dirty="0"/>
              <a:t>Estado actual de la FSM (jugadores, ronda, commits, reveals, scores).</a:t>
            </a:r>
          </a:p>
          <a:p>
            <a:pPr marL="228600" indent="-228600">
              <a:buFont typeface="Arial"/>
              <a:buChar char="•"/>
            </a:pPr>
            <a:r>
              <a:rPr lang="es-ES" sz="1400" dirty="0"/>
              <a:t>Índice del log hasta el que el snapshot es válido.</a:t>
            </a:r>
          </a:p>
          <a:p>
            <a:pPr marL="228600" indent="-228600">
              <a:buFont typeface="Arial"/>
              <a:buChar char="•"/>
            </a:pPr>
            <a:r>
              <a:rPr lang="es-ES" sz="1400" dirty="0"/>
              <a:t>Versión del formato (para migraciones).</a:t>
            </a:r>
          </a:p>
          <a:p>
            <a:pPr marL="0" indent="0">
              <a:buNone/>
            </a:pPr>
            <a:r>
              <a:rPr lang="es-ES" sz="1500" b="1" dirty="0">
                <a:solidFill>
                  <a:srgbClr val="006EB7"/>
                </a:solidFill>
              </a:rPr>
              <a:t>Recuperación tras reinicio</a:t>
            </a:r>
          </a:p>
          <a:p>
            <a:pPr marL="228600" indent="-228600">
              <a:buFont typeface="Arial"/>
              <a:buChar char="•"/>
            </a:pPr>
            <a:r>
              <a:rPr lang="es-ES" sz="1400" dirty="0">
                <a:latin typeface="Consolas"/>
              </a:rPr>
              <a:t>restore_snapshot</a:t>
            </a:r>
            <a:r>
              <a:rPr lang="es-ES" sz="1400" dirty="0"/>
              <a:t> reinstala el estado base.</a:t>
            </a:r>
          </a:p>
          <a:p>
            <a:pPr marL="228600" indent="-228600">
              <a:buFont typeface="Arial"/>
              <a:buChar char="•"/>
            </a:pPr>
            <a:r>
              <a:rPr lang="es-ES" sz="1400" dirty="0"/>
              <a:t>Raft reaplica el sufijo del log con </a:t>
            </a:r>
            <a:r>
              <a:rPr lang="es-ES" sz="1400" dirty="0">
                <a:latin typeface="Consolas"/>
              </a:rPr>
              <a:t>apply</a:t>
            </a:r>
            <a:r>
              <a:rPr lang="es-ES" sz="1400" dirty="0"/>
              <a:t>; cada apply drena transiciones automáticas.</a:t>
            </a:r>
          </a:p>
          <a:p>
            <a:pPr marL="228600" indent="-228600">
              <a:buFont typeface="Arial"/>
              <a:buChar char="•"/>
            </a:pPr>
            <a:r>
              <a:rPr lang="es-ES" sz="1400" dirty="0"/>
              <a:t>La idempotencia (P8) garantiza que el replay no duplica efectos.</a:t>
            </a:r>
          </a:p>
          <a:p>
            <a:pPr marL="0" indent="0" algn="ctr">
              <a:buNone/>
            </a:pPr>
            <a:r>
              <a:rPr lang="es-ES" sz="1300" b="1" i="1" dirty="0">
                <a:solidFill>
                  <a:srgbClr val="E61931"/>
                </a:solidFill>
              </a:rPr>
              <a:t>Snapshot + replay = recuperación exacta byte a byte.</a:t>
            </a:r>
          </a:p>
        </p:txBody>
      </p:sp>
    </p:spTree>
    <p:extLst>
      <p:ext uri="{BB962C8B-B14F-4D97-AF65-F5344CB8AC3E}">
        <p14:creationId xmlns:p14="http://schemas.microsoft.com/office/powerpoint/2010/main" val="8631738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806C32-DD21-8E5E-824C-01FEF9DA6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s-ES" sz="2800" b="1" dirty="0">
                <a:solidFill>
                  <a:srgbClr val="006EB7"/>
                </a:solidFill>
              </a:rPr>
              <a:t>La CLI también es una FSM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D09E7CD-C345-A1C1-E5B6-BCC484AB18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sz="1400" i="1" dirty="0">
                <a:solidFill>
                  <a:srgbClr val="677480"/>
                </a:solidFill>
              </a:rPr>
              <a:t>Objetivo: separar la FSM de presentación (local) de la FSM de juego (replicada).</a:t>
            </a:r>
          </a:p>
          <a:p>
            <a:pPr marL="0" indent="0">
              <a:buNone/>
            </a:pPr>
            <a:r>
              <a:rPr lang="es-ES" sz="1500" b="1" dirty="0">
                <a:solidFill>
                  <a:srgbClr val="006EB7"/>
                </a:solidFill>
              </a:rPr>
              <a:t>Estados de la CLI</a:t>
            </a:r>
          </a:p>
          <a:p>
            <a:pPr marL="0" indent="0">
              <a:buNone/>
            </a:pPr>
            <a:r>
              <a:rPr lang="es-ES" sz="1300" dirty="0">
                <a:latin typeface="Consolas"/>
              </a:rPr>
              <a:t>DISCONNECTED → CONNECTING → LOBBY → IN_GAME → SHOWING_RESULT</a:t>
            </a:r>
          </a:p>
          <a:p>
            <a:pPr marL="0" indent="0">
              <a:buNone/>
            </a:pPr>
            <a:r>
              <a:rPr lang="es-ES" sz="1500" b="1" dirty="0">
                <a:solidFill>
                  <a:srgbClr val="006EB7"/>
                </a:solidFill>
              </a:rPr>
              <a:t>Qué hace y qué NO hace</a:t>
            </a:r>
          </a:p>
          <a:p>
            <a:pPr marL="228600" indent="-228600">
              <a:buFont typeface="Arial"/>
              <a:buChar char="•"/>
            </a:pPr>
            <a:r>
              <a:rPr lang="es-ES" sz="1400" dirty="0"/>
              <a:t>Lee teclado, valida formato, redirige al líder si es follower.</a:t>
            </a:r>
          </a:p>
          <a:p>
            <a:pPr marL="228600" indent="-228600">
              <a:buFont typeface="Arial"/>
              <a:buChar char="•"/>
            </a:pPr>
            <a:r>
              <a:rPr lang="es-ES" sz="1400" dirty="0"/>
              <a:t>Llama a </a:t>
            </a:r>
            <a:r>
              <a:rPr lang="es-ES" sz="1400" dirty="0">
                <a:latin typeface="Consolas"/>
              </a:rPr>
              <a:t>raft_propose(cmd)</a:t>
            </a:r>
            <a:r>
              <a:rPr lang="es-ES" sz="1400" dirty="0"/>
              <a:t>; no toca el estado del juego.</a:t>
            </a:r>
          </a:p>
          <a:p>
            <a:pPr marL="228600" indent="-228600">
              <a:buFont typeface="Arial"/>
              <a:buChar char="•"/>
            </a:pPr>
            <a:r>
              <a:rPr lang="es-ES" sz="1400" dirty="0"/>
              <a:t>Tras el </a:t>
            </a:r>
            <a:r>
              <a:rPr lang="es-ES" sz="1400" dirty="0">
                <a:latin typeface="Consolas"/>
              </a:rPr>
              <a:t>apply</a:t>
            </a:r>
            <a:r>
              <a:rPr lang="es-ES" sz="1400" dirty="0"/>
              <a:t> se redibuja con el nuevo estado.</a:t>
            </a:r>
          </a:p>
          <a:p>
            <a:pPr marL="0" indent="0" algn="ctr">
              <a:buNone/>
            </a:pPr>
            <a:r>
              <a:rPr lang="es-ES" sz="1300" b="1" i="1" dirty="0">
                <a:solidFill>
                  <a:srgbClr val="E61931"/>
                </a:solidFill>
              </a:rPr>
              <a:t>La CLI nunca decide reglas: solo traduce entrada ↔ estado.</a:t>
            </a:r>
          </a:p>
        </p:txBody>
      </p:sp>
    </p:spTree>
    <p:extLst>
      <p:ext uri="{BB962C8B-B14F-4D97-AF65-F5344CB8AC3E}">
        <p14:creationId xmlns:p14="http://schemas.microsoft.com/office/powerpoint/2010/main" val="30619021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9EC6A4-D819-9D8E-C2D7-86948F6F2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s-ES" sz="2800" b="1" dirty="0">
                <a:solidFill>
                  <a:srgbClr val="006EB7"/>
                </a:solidFill>
              </a:rPr>
              <a:t>Un cluster real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44DE89A-2268-361D-C25B-FD08DA6FFE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915985"/>
            <a:ext cx="8520600" cy="3416400"/>
          </a:xfrm>
        </p:spPr>
        <p:txBody>
          <a:bodyPr/>
          <a:lstStyle/>
          <a:p>
            <a:pPr marL="0" indent="0">
              <a:buNone/>
            </a:pPr>
            <a:r>
              <a:rPr lang="es-ES" sz="1400" i="1" dirty="0">
                <a:solidFill>
                  <a:srgbClr val="677480"/>
                </a:solidFill>
              </a:rPr>
              <a:t>Objetivo: visualizar cómo se levanta el cluster y cómo se prueba la tolerancia.</a:t>
            </a:r>
          </a:p>
          <a:p>
            <a:pPr marL="0" indent="0">
              <a:buNone/>
            </a:pPr>
            <a:r>
              <a:rPr lang="es-ES" sz="1400" b="1" dirty="0">
                <a:solidFill>
                  <a:schemeClr val="accent1"/>
                </a:solidFill>
              </a:rPr>
              <a:t>Arranque (3 procesos)</a:t>
            </a:r>
          </a:p>
          <a:p>
            <a:pPr marL="0" indent="0">
              <a:buNone/>
            </a:pPr>
            <a:r>
              <a:rPr lang="es-ES" sz="1100" dirty="0">
                <a:latin typeface="Consolas"/>
              </a:rPr>
              <a:t># Terminal 1 (líder bootstrap)</a:t>
            </a:r>
          </a:p>
          <a:p>
            <a:pPr marL="0" indent="0">
              <a:buNone/>
            </a:pPr>
            <a:r>
              <a:rPr lang="es-ES" sz="1100" dirty="0">
                <a:latin typeface="Consolas"/>
              </a:rPr>
              <a:t>$ ./build/rps_node --id node1 --listen 127.0.0.1:7001 --bootstrap</a:t>
            </a:r>
          </a:p>
          <a:p>
            <a:pPr marL="0" indent="0">
              <a:buNone/>
            </a:pPr>
            <a:r>
              <a:rPr lang="es-ES" sz="1100" dirty="0">
                <a:latin typeface="Consolas"/>
              </a:rPr>
              <a:t> </a:t>
            </a:r>
          </a:p>
          <a:p>
            <a:pPr marL="0" indent="0">
              <a:buNone/>
            </a:pPr>
            <a:r>
              <a:rPr lang="es-ES" sz="1100" dirty="0">
                <a:latin typeface="Consolas"/>
              </a:rPr>
              <a:t># Terminal 2</a:t>
            </a:r>
          </a:p>
          <a:p>
            <a:pPr marL="0" indent="0">
              <a:buNone/>
            </a:pPr>
            <a:r>
              <a:rPr lang="es-ES" sz="1100" dirty="0">
                <a:latin typeface="Consolas"/>
              </a:rPr>
              <a:t>$ ./build/rps_node --id node2 --listen 127.0.0.1:7002 \</a:t>
            </a:r>
          </a:p>
          <a:p>
            <a:pPr marL="0" indent="0">
              <a:buNone/>
            </a:pPr>
            <a:r>
              <a:rPr lang="es-ES" sz="1100" dirty="0">
                <a:latin typeface="Consolas"/>
              </a:rPr>
              <a:t>                   --join   127.0.0.1:7001</a:t>
            </a:r>
          </a:p>
          <a:p>
            <a:pPr marL="0" indent="0">
              <a:buNone/>
            </a:pPr>
            <a:r>
              <a:rPr lang="es-ES" sz="1100" dirty="0">
                <a:latin typeface="Consolas"/>
              </a:rPr>
              <a:t> </a:t>
            </a:r>
          </a:p>
          <a:p>
            <a:pPr marL="0" indent="0">
              <a:buNone/>
            </a:pPr>
            <a:r>
              <a:rPr lang="es-ES" sz="1100" dirty="0">
                <a:latin typeface="Consolas"/>
              </a:rPr>
              <a:t># Terminal 3</a:t>
            </a:r>
          </a:p>
          <a:p>
            <a:pPr marL="0" indent="0">
              <a:buNone/>
            </a:pPr>
            <a:r>
              <a:rPr lang="es-ES" sz="1100" dirty="0">
                <a:latin typeface="Consolas"/>
              </a:rPr>
              <a:t>$ ./build/rps_node --id node3 --listen 127.0.0.1:7003 \</a:t>
            </a:r>
          </a:p>
          <a:p>
            <a:pPr marL="0" indent="0">
              <a:buNone/>
            </a:pPr>
            <a:r>
              <a:rPr lang="es-ES" sz="1100" dirty="0">
                <a:latin typeface="Consolas"/>
              </a:rPr>
              <a:t>                   --join   127.0.0.1:7001</a:t>
            </a:r>
          </a:p>
          <a:p>
            <a:pPr marL="228600" indent="-228600">
              <a:buFont typeface="Arial"/>
              <a:buChar char="•"/>
            </a:pPr>
            <a:r>
              <a:rPr lang="es-ES" sz="1300" dirty="0"/>
              <a:t>Matar al líder: la mayoría restante elige nuevo líder y el juego sigue.</a:t>
            </a:r>
          </a:p>
          <a:p>
            <a:pPr marL="228600" indent="-228600">
              <a:buFont typeface="Arial"/>
              <a:buChar char="•"/>
            </a:pPr>
            <a:r>
              <a:rPr lang="es-ES" sz="1300" dirty="0"/>
              <a:t>Reiniciar nodo caído: aplica snapshot + sufijo del log; estado idéntico.</a:t>
            </a:r>
          </a:p>
          <a:p>
            <a:pPr marL="228600" indent="-228600">
              <a:buFont typeface="Arial"/>
              <a:buChar char="•"/>
            </a:pPr>
            <a:r>
              <a:rPr lang="es-ES" sz="1300" dirty="0"/>
              <a:t>Particionar minoría: no compromete entradas; la mayoría continúa.</a:t>
            </a:r>
          </a:p>
        </p:txBody>
      </p:sp>
    </p:spTree>
    <p:extLst>
      <p:ext uri="{BB962C8B-B14F-4D97-AF65-F5344CB8AC3E}">
        <p14:creationId xmlns:p14="http://schemas.microsoft.com/office/powerpoint/2010/main" val="27867653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43C5C4-2A96-58B9-027A-E45621F92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s-ES" sz="2800" b="1" dirty="0">
                <a:solidFill>
                  <a:srgbClr val="006EB7"/>
                </a:solidFill>
              </a:rPr>
              <a:t>Errores comunes (I)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F25B4C0-B590-667F-CD11-DAAB172272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821389"/>
            <a:ext cx="8520600" cy="3416400"/>
          </a:xfrm>
        </p:spPr>
        <p:txBody>
          <a:bodyPr/>
          <a:lstStyle/>
          <a:p>
            <a:pPr marL="0" indent="0">
              <a:buNone/>
            </a:pPr>
            <a:r>
              <a:rPr lang="es-ES" sz="1400" i="1" dirty="0">
                <a:solidFill>
                  <a:srgbClr val="677480"/>
                </a:solidFill>
              </a:rPr>
              <a:t>Objetivo: reconocer las trampas que aparecen al integrar FSM con Raft.</a:t>
            </a:r>
          </a:p>
          <a:p>
            <a:pPr marL="0" indent="0">
              <a:buNone/>
            </a:pPr>
            <a:r>
              <a:rPr lang="es-ES" sz="1500" b="1" dirty="0">
                <a:solidFill>
                  <a:srgbClr val="E61931"/>
                </a:solidFill>
              </a:rPr>
              <a:t>1. Aplicar antes del commit</a:t>
            </a:r>
          </a:p>
          <a:p>
            <a:pPr marL="228600" indent="0">
              <a:buNone/>
            </a:pPr>
            <a:r>
              <a:rPr lang="es-ES" sz="1300" dirty="0"/>
              <a:t>La FSM muta tras un append local. En recovery, una entrada no comprometida desaparece y los nodos divergen.</a:t>
            </a:r>
          </a:p>
          <a:p>
            <a:pPr marL="0" indent="0">
              <a:buNone/>
            </a:pPr>
            <a:r>
              <a:rPr lang="es-ES" sz="1500" b="1" dirty="0">
                <a:solidFill>
                  <a:srgbClr val="E61931"/>
                </a:solidFill>
              </a:rPr>
              <a:t>2. Replicar el tick del reloj</a:t>
            </a:r>
          </a:p>
          <a:p>
            <a:pPr marL="228600" indent="0">
              <a:buNone/>
            </a:pPr>
            <a:r>
              <a:rPr lang="es-ES" sz="1300" dirty="0"/>
              <a:t>Los timeouts se generan localmente, no se ordenan. Replicarlos llena el log con eventos que ya no significan nada al releerlos.</a:t>
            </a:r>
          </a:p>
          <a:p>
            <a:pPr marL="0" indent="0">
              <a:buNone/>
            </a:pPr>
            <a:r>
              <a:rPr lang="es-ES" sz="1500" b="1" dirty="0">
                <a:solidFill>
                  <a:srgbClr val="E61931"/>
                </a:solidFill>
              </a:rPr>
              <a:t>3. Tratar duplicado y conflicto igual</a:t>
            </a:r>
          </a:p>
          <a:p>
            <a:pPr marL="228600" indent="0">
              <a:buNone/>
            </a:pPr>
            <a:r>
              <a:rPr lang="es-ES" sz="1300" dirty="0"/>
              <a:t>Devolver error en duplicados rompe reintentos y replays. Conflicto es semánticamente distinto: aceptar uno, rechazar el otro.</a:t>
            </a:r>
          </a:p>
          <a:p>
            <a:pPr marL="0" indent="0">
              <a:buNone/>
            </a:pPr>
            <a:r>
              <a:rPr lang="es-ES" sz="1500" b="1" dirty="0">
                <a:solidFill>
                  <a:srgbClr val="E61931"/>
                </a:solidFill>
              </a:rPr>
              <a:t>4. Estado escondido en variables globales</a:t>
            </a:r>
          </a:p>
          <a:p>
            <a:pPr marL="228600" indent="0">
              <a:buNone/>
            </a:pPr>
            <a:r>
              <a:rPr lang="es-ES" sz="1300" dirty="0"/>
              <a:t>Si la FSM toca un static que el snapshot ignora, el restore no reproduce el estado y los nodos quedan inconsistentes.</a:t>
            </a:r>
          </a:p>
          <a:p>
            <a:pPr marL="0" indent="0">
              <a:buNone/>
            </a:pPr>
            <a:r>
              <a:rPr lang="es-ES" sz="1500" b="1" dirty="0">
                <a:solidFill>
                  <a:srgbClr val="E61931"/>
                </a:solidFill>
              </a:rPr>
              <a:t>5. Snapshot sin clamp del índice</a:t>
            </a:r>
          </a:p>
          <a:p>
            <a:pPr marL="228600" indent="0">
              <a:buNone/>
            </a:pPr>
            <a:r>
              <a:rPr lang="es-ES" sz="1300" dirty="0"/>
              <a:t>Olvidar truncar el log al índice del snapshot deja replay duplicado y rompe P5 (score acotada).</a:t>
            </a:r>
          </a:p>
        </p:txBody>
      </p:sp>
    </p:spTree>
    <p:extLst>
      <p:ext uri="{BB962C8B-B14F-4D97-AF65-F5344CB8AC3E}">
        <p14:creationId xmlns:p14="http://schemas.microsoft.com/office/powerpoint/2010/main" val="18103422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078FB7-B14D-D701-9188-BBF83789C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s-ES" sz="2800" b="1" dirty="0">
                <a:solidFill>
                  <a:srgbClr val="006EB7"/>
                </a:solidFill>
              </a:rPr>
              <a:t>Errores comunes (II)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A222444-957B-DB52-E6C5-03326B26C8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821389"/>
            <a:ext cx="8520600" cy="3416400"/>
          </a:xfrm>
        </p:spPr>
        <p:txBody>
          <a:bodyPr/>
          <a:lstStyle/>
          <a:p>
            <a:pPr marL="0" indent="0">
              <a:buNone/>
            </a:pPr>
            <a:r>
              <a:rPr lang="es-ES" sz="1400" i="1" dirty="0">
                <a:solidFill>
                  <a:srgbClr val="677480"/>
                </a:solidFill>
              </a:rPr>
              <a:t>Objetivo: cerrar las trampas de detalle que no aparecen hasta el cluster real.</a:t>
            </a:r>
          </a:p>
          <a:p>
            <a:pPr marL="0" indent="0">
              <a:buNone/>
            </a:pPr>
            <a:r>
              <a:rPr lang="es-ES" sz="1500" b="1" dirty="0">
                <a:solidFill>
                  <a:srgbClr val="E61931"/>
                </a:solidFill>
              </a:rPr>
              <a:t>6. SHA256 con cadena ambigua</a:t>
            </a:r>
          </a:p>
          <a:p>
            <a:pPr marL="228600" indent="0">
              <a:buNone/>
            </a:pPr>
            <a:r>
              <a:rPr lang="es-ES" sz="1300" dirty="0"/>
              <a:t>Concatenar sin separador (id + move + nonce) permite colisiones triviales. Usar siempre id:move:nonce con separador fijo.</a:t>
            </a:r>
          </a:p>
          <a:p>
            <a:pPr marL="0" indent="0">
              <a:buNone/>
            </a:pPr>
            <a:r>
              <a:rPr lang="es-ES" sz="1500" b="1" dirty="0">
                <a:solidFill>
                  <a:srgbClr val="E61931"/>
                </a:solidFill>
              </a:rPr>
              <a:t>7. Reutilizar nonce entre rondas</a:t>
            </a:r>
          </a:p>
          <a:p>
            <a:pPr marL="228600" indent="0">
              <a:buNone/>
            </a:pPr>
            <a:r>
              <a:rPr lang="es-ES" sz="1300" dirty="0"/>
              <a:t>Abre la puerta a replay del reveal anterior. Cada ronda debe estrenar nonce o invalidar los previos en la transición.</a:t>
            </a:r>
          </a:p>
          <a:p>
            <a:pPr marL="0" indent="0">
              <a:buNone/>
            </a:pPr>
            <a:r>
              <a:rPr lang="es-ES" sz="1500" b="1" dirty="0">
                <a:solidFill>
                  <a:srgbClr val="E61931"/>
                </a:solidFill>
              </a:rPr>
              <a:t>8. CLI que muta el estado directamente</a:t>
            </a:r>
          </a:p>
          <a:p>
            <a:pPr marL="228600" indent="0">
              <a:buNone/>
            </a:pPr>
            <a:r>
              <a:rPr lang="es-ES" sz="1300" dirty="0"/>
              <a:t>Si la CLI escribe en la FSM sin pasar por Raft, los nodos divergen. Toda entrada externa va al log primero.</a:t>
            </a:r>
          </a:p>
          <a:p>
            <a:pPr marL="0" indent="0">
              <a:buNone/>
            </a:pPr>
            <a:r>
              <a:rPr lang="es-ES" sz="1500" b="1" dirty="0">
                <a:solidFill>
                  <a:srgbClr val="E61931"/>
                </a:solidFill>
              </a:rPr>
              <a:t>9. Olvidar drenar transiciones automáticas</a:t>
            </a:r>
          </a:p>
          <a:p>
            <a:pPr marL="228600" indent="0">
              <a:buNone/>
            </a:pPr>
            <a:r>
              <a:rPr lang="es-ES" sz="1300" dirty="0"/>
              <a:t>Tras apply, faltan all_commits_recv / all_reveals_recv / result_committed. La FSM se queda colgada en una fase intermedia.</a:t>
            </a:r>
          </a:p>
          <a:p>
            <a:pPr marL="0" indent="0">
              <a:buNone/>
            </a:pPr>
            <a:r>
              <a:rPr lang="es-ES" sz="1500" b="1" dirty="0">
                <a:solidFill>
                  <a:srgbClr val="E61931"/>
                </a:solidFill>
              </a:rPr>
              <a:t>10. Logs por nodo con identidad confusa</a:t>
            </a:r>
          </a:p>
          <a:p>
            <a:pPr marL="228600" indent="0">
              <a:buNone/>
            </a:pPr>
            <a:r>
              <a:rPr lang="es-ES" sz="1300" dirty="0"/>
              <a:t>Sin prefijo node_id, los logs de cluster son ilegibles. Trazar siempre [nodeN] al inicio y nivel (INFO/WARN/ERR).</a:t>
            </a:r>
          </a:p>
        </p:txBody>
      </p:sp>
    </p:spTree>
    <p:extLst>
      <p:ext uri="{BB962C8B-B14F-4D97-AF65-F5344CB8AC3E}">
        <p14:creationId xmlns:p14="http://schemas.microsoft.com/office/powerpoint/2010/main" val="14759492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A054AE-D0DC-7B53-D8D7-27178BE18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s-ES" sz="2800" b="1" dirty="0">
                <a:solidFill>
                  <a:srgbClr val="006EB7"/>
                </a:solidFill>
              </a:rPr>
              <a:t>Resumen: cuatro ideas para llevarse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59E012-E46E-81F0-4D13-14558FC501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sz="1400" i="1" dirty="0">
                <a:solidFill>
                  <a:srgbClr val="677480"/>
                </a:solidFill>
              </a:rPr>
              <a:t>De la especificación al cluster: cuatro mensajes para retener.</a:t>
            </a:r>
          </a:p>
          <a:p>
            <a:pPr marL="0" indent="0">
              <a:buNone/>
            </a:pPr>
            <a:r>
              <a:rPr lang="es-ES" sz="1600" b="1" dirty="0">
                <a:solidFill>
                  <a:srgbClr val="006EB7"/>
                </a:solidFill>
              </a:rPr>
              <a:t>1. Especifica antes de programar</a:t>
            </a:r>
          </a:p>
          <a:p>
            <a:pPr marL="228600" indent="0">
              <a:buNone/>
            </a:pPr>
            <a:r>
              <a:rPr lang="es-ES" sz="1400" dirty="0"/>
              <a:t>LTL define qué debe ser cierto; SPIN refuta el modelo antes de tocar C. Las propiedades sobreviven al paso a Raft.</a:t>
            </a:r>
          </a:p>
          <a:p>
            <a:pPr marL="0" indent="0">
              <a:buNone/>
            </a:pPr>
            <a:r>
              <a:rPr lang="es-ES" sz="1600" b="1" dirty="0">
                <a:solidFill>
                  <a:srgbClr val="006EB7"/>
                </a:solidFill>
              </a:rPr>
              <a:t>2. La FSM no conoce la red</a:t>
            </a:r>
          </a:p>
          <a:p>
            <a:pPr marL="228600" indent="0">
              <a:buNone/>
            </a:pPr>
            <a:r>
              <a:rPr lang="es-ES" sz="1400" dirty="0"/>
              <a:t>Es determinista, testeable en host y reutilizable. Idempotencia y separación duplicado/conflicto son requisitos, no detalles.</a:t>
            </a:r>
          </a:p>
          <a:p>
            <a:pPr marL="0" indent="0">
              <a:buNone/>
            </a:pPr>
            <a:r>
              <a:rPr lang="es-ES" sz="1600" b="1" dirty="0">
                <a:solidFill>
                  <a:srgbClr val="006EB7"/>
                </a:solidFill>
              </a:rPr>
              <a:t>3. Raft ordena, no decide</a:t>
            </a:r>
          </a:p>
          <a:p>
            <a:pPr marL="228600" indent="0">
              <a:buNone/>
            </a:pPr>
            <a:r>
              <a:rPr lang="es-ES" sz="1400" dirty="0"/>
              <a:t>Resuelve qué entradas existieron y en qué orden. La regla de oro: nunca aplicar antes del commit.</a:t>
            </a:r>
          </a:p>
          <a:p>
            <a:pPr marL="0" indent="0">
              <a:buNone/>
            </a:pPr>
            <a:r>
              <a:rPr lang="es-ES" sz="1600" b="1" dirty="0">
                <a:solidFill>
                  <a:srgbClr val="006EB7"/>
                </a:solidFill>
              </a:rPr>
              <a:t>4. Snapshot + replay son parte del diseño</a:t>
            </a:r>
          </a:p>
          <a:p>
            <a:pPr marL="228600" indent="0">
              <a:buNone/>
            </a:pPr>
            <a:r>
              <a:rPr lang="es-ES" sz="1400" dirty="0"/>
              <a:t>Toda variable de estado entra al snapshot; el sufijo del log debe ser idempotente. CLI y red son entradas; sólo Raft escribe en la FSM.</a:t>
            </a:r>
          </a:p>
          <a:p>
            <a:pPr marL="0" indent="0" algn="ctr">
              <a:buNone/>
            </a:pPr>
            <a:r>
              <a:rPr lang="es-ES" sz="1500" b="1" i="1" dirty="0">
                <a:solidFill>
                  <a:srgbClr val="E61931"/>
                </a:solidFill>
              </a:rPr>
              <a:t>Gracias.</a:t>
            </a:r>
          </a:p>
        </p:txBody>
      </p:sp>
    </p:spTree>
    <p:extLst>
      <p:ext uri="{BB962C8B-B14F-4D97-AF65-F5344CB8AC3E}">
        <p14:creationId xmlns:p14="http://schemas.microsoft.com/office/powerpoint/2010/main" val="497058714"/>
      </p:ext>
    </p:extLst>
  </p:cSld>
  <p:clrMapOvr>
    <a:masterClrMapping/>
  </p:clrMapOvr>
</p:sld>
</file>

<file path=ppt/theme/theme1.xml><?xml version="1.0" encoding="utf-8"?>
<a:theme xmlns:a="http://schemas.openxmlformats.org/drawingml/2006/main" name="UPM">
  <a:themeElements>
    <a:clrScheme name="Custom 347">
      <a:dk1>
        <a:srgbClr val="677480"/>
      </a:dk1>
      <a:lt1>
        <a:srgbClr val="FFFFFF"/>
      </a:lt1>
      <a:dk2>
        <a:srgbClr val="006EB7"/>
      </a:dk2>
      <a:lt2>
        <a:srgbClr val="E3E3E3"/>
      </a:lt2>
      <a:accent1>
        <a:srgbClr val="006EB7"/>
      </a:accent1>
      <a:accent2>
        <a:srgbClr val="00ACE9"/>
      </a:accent2>
      <a:accent3>
        <a:srgbClr val="E61931"/>
      </a:accent3>
      <a:accent4>
        <a:srgbClr val="AE9B6D"/>
      </a:accent4>
      <a:accent5>
        <a:srgbClr val="0F1C82"/>
      </a:accent5>
      <a:accent6>
        <a:srgbClr val="000000"/>
      </a:accent6>
      <a:hlink>
        <a:srgbClr val="006EB7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PM-docencia" id="{F951FC01-DCCA-AB4F-9B60-0FAF05C90364}" vid="{B0D610A3-14DB-5543-940C-1015C6D77743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C4EFEF7-87EC-AC45-A2D7-6A6D23121651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56c4ffeb-31e6-4bf4-bdd3-b7b11e54565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UPM</Template>
  <TotalTime>96</TotalTime>
  <Words>5519</Words>
  <Application>Microsoft Macintosh PowerPoint</Application>
  <PresentationFormat>Presentación en pantalla (16:9)</PresentationFormat>
  <Paragraphs>670</Paragraphs>
  <Slides>28</Slides>
  <Notes>28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28</vt:i4>
      </vt:variant>
    </vt:vector>
  </HeadingPairs>
  <TitlesOfParts>
    <vt:vector size="35" baseType="lpstr">
      <vt:lpstr>EB Garamond ExtraBold</vt:lpstr>
      <vt:lpstr>Consolas</vt:lpstr>
      <vt:lpstr>Arial</vt:lpstr>
      <vt:lpstr>Raleway</vt:lpstr>
      <vt:lpstr>EB Garamond</vt:lpstr>
      <vt:lpstr>Libre Franklin</vt:lpstr>
      <vt:lpstr>UPM</vt:lpstr>
      <vt:lpstr>De FSM local a sistema distribuido tolerante a fallos</vt:lpstr>
      <vt:lpstr>El problema: orden, no transporte</vt:lpstr>
      <vt:lpstr>Metodología: del enunciado al cluster</vt:lpstr>
      <vt:lpstr>Sistema de ejemplo: piedra-papel-tijera replicado</vt:lpstr>
      <vt:lpstr>Qué verificamos antes de programar</vt:lpstr>
      <vt:lpstr>LTL: invariantes de seguridad (P1–P5)</vt:lpstr>
      <vt:lpstr>LTL: progreso y terminalidad (P6–P11)</vt:lpstr>
      <vt:lpstr>Promela mínimo y comando SPIN</vt:lpstr>
      <vt:lpstr>Estados de la FSM</vt:lpstr>
      <vt:lpstr>Transiciones</vt:lpstr>
      <vt:lpstr>Idempotencia en el modelo</vt:lpstr>
      <vt:lpstr>Commit-reveal: ocultar la jugada</vt:lpstr>
      <vt:lpstr>Implementación C local</vt:lpstr>
      <vt:lpstr>Guardas y acciones</vt:lpstr>
      <vt:lpstr>Tests del modelo local</vt:lpstr>
      <vt:lpstr>Por qué necesitamos Raft</vt:lpstr>
      <vt:lpstr>Regla de oro: no apply antes del commit</vt:lpstr>
      <vt:lpstr>Operaciones sincronizadas (no hay tick)</vt:lpstr>
      <vt:lpstr>Codificación como raft_command_t</vt:lpstr>
      <vt:lpstr>raft_application_t</vt:lpstr>
      <vt:lpstr>El adaptador: rps_app_t</vt:lpstr>
      <vt:lpstr>Drenaje de transiciones automáticas</vt:lpstr>
      <vt:lpstr>Snapshot y recuperación</vt:lpstr>
      <vt:lpstr>La CLI también es una FSM</vt:lpstr>
      <vt:lpstr>Un cluster real</vt:lpstr>
      <vt:lpstr>Errores comunes (I)</vt:lpstr>
      <vt:lpstr>Errores comunes (II)</vt:lpstr>
      <vt:lpstr>Resumen: cuatro ideas para llevarse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 MANUEL MOYA FERNANDEZ</dc:creator>
  <cp:lastModifiedBy>JOSE MANUEL MOYA FERNANDEZ</cp:lastModifiedBy>
  <cp:revision>6</cp:revision>
  <dcterms:created xsi:type="dcterms:W3CDTF">2026-05-19T11:04:31Z</dcterms:created>
  <dcterms:modified xsi:type="dcterms:W3CDTF">2026-05-19T12:45:45Z</dcterms:modified>
</cp:coreProperties>
</file>